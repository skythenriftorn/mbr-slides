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[Field Service] 3-Day RTAT Market Overview Urban/Rural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74320" y="438912"/>
            <a:ext cx="1161288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274320" y="484632"/>
            <a:ext cx="11612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713232"/>
            <a:ext cx="11612880" cy="0"/>
          </a:xfrm>
          <a:prstGeom prst="line">
            <a:avLst/>
          </a:prstGeom>
          <a:noFill/>
          <a:ln w="508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74320" y="749808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— 574 of 4,250 jobs (13.5%)  |  Baseline: 13.09D → Mar: 9.7D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822960"/>
                <a:gridCol w="822960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+/-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Service (NY)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Mike's Electronics (KY)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DESIJA LLC (CO)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Atech Computer (OK)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TV Specialty Shop (OR)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Palm &amp; Shields (CA)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Leader TV (NY)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217920" y="749808"/>
            <a:ext cx="5669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 — 399 of 4,689 jobs (8.5%)  |  Baseline: 11.33D → Mar: 12.8D</a:t>
            </a:r>
            <a:endParaRPr lang="en-US" sz="8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822960"/>
                <a:gridCol w="822960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+/-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Ares LLC (OK)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Bergman Appl (NE)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Appliance Rx (MO)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Ernie Krygier (MI)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A-OK Appliance (CO)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Keisers Appl (VA)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Doctor Maint (MD)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035040" y="749808"/>
            <a:ext cx="0" cy="1554480"/>
          </a:xfrm>
          <a:prstGeom prst="line">
            <a:avLst/>
          </a:prstGeom>
          <a:noFill/>
          <a:ln w="6350">
            <a:solidFill>
              <a:srgbClr val="D0D0D0"/>
            </a:solidFill>
            <a:prstDash val="solid"/>
          </a:ln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274320" y="2423160"/>
            <a:ext cx="11612880" cy="0"/>
          </a:xfrm>
          <a:prstGeom prst="line">
            <a:avLst/>
          </a:prstGeom>
          <a:noFill/>
          <a:ln w="508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274320" y="2450592"/>
            <a:ext cx="5623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Review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74320" y="2679192"/>
            <a:ext cx="5623560" cy="0"/>
          </a:xfrm>
          <a:prstGeom prst="line">
            <a:avLst/>
          </a:prstGeom>
          <a:noFill/>
          <a:ln w="508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6217920" y="2450592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Strategy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17920" y="2679192"/>
            <a:ext cx="5669280" cy="0"/>
          </a:xfrm>
          <a:prstGeom prst="line">
            <a:avLst/>
          </a:prstGeom>
          <a:noFill/>
          <a:ln w="5080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035040" y="2423160"/>
            <a:ext cx="0" cy="4389120"/>
          </a:xfrm>
          <a:prstGeom prst="line">
            <a:avLst/>
          </a:prstGeom>
          <a:noFill/>
          <a:ln w="6350">
            <a:solidFill>
              <a:srgbClr val="D0D0D0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457200" y="2743200"/>
            <a:ext cx="53035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RTAT Review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40080" y="298094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Urban: 13.09D → </a:t>
            </a:r>
            <a:pPr indent="0" marL="0">
              <a:buNone/>
            </a:pPr>
            <a:r>
              <a:rPr lang="en-US" sz="800" b="1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(Mar) — below 10D target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640080" y="316382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Rural: 11.33D → </a:t>
            </a:r>
            <a:pPr indent="0" marL="0">
              <a:buNone/>
            </a:pPr>
            <a:r>
              <a:rPr lang="en-US" sz="8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12.8D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(Mar) — Apr trending </a:t>
            </a:r>
            <a:pPr indent="0" marL="0">
              <a:buNone/>
            </a:pPr>
            <a:r>
              <a:rPr lang="en-US" sz="800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11.4D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640080" y="334670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7 ASCs stabilized by our team, handed off</a:t>
            </a:r>
            <a:endParaRPr lang="en-US" sz="8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57016"/>
          <a:ext cx="4937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31520"/>
                <a:gridCol w="731520"/>
                <a:gridCol w="731520"/>
              </a:tblGrid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Handed Off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Now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+/-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Splice Technologies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Consumers Mobile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Disaster Appliance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J&amp;J Electronics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Service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KS Appliance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7"/>
          <p:cNvSpPr/>
          <p:nvPr/>
        </p:nvSpPr>
        <p:spPr>
          <a:xfrm>
            <a:off x="457200" y="4690872"/>
            <a:ext cx="53035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Pending Review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6400800" y="2743200"/>
            <a:ext cx="53035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RTAT Strategy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6400800" y="4352544"/>
            <a:ext cx="530352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 Pending Strategy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6583680" y="298094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REPAIR Framework: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6583680" y="316382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    Rank  |  Establish  |  Process  |  Amplify  |  Integrate  |  Redirect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6583680" y="334670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Shifting to rural-heavy focus — Urban hit 9.7D (below 10D target)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6583680" y="352958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Continue holding Urban below 10D while driving Rural to 10D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6583680" y="371246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Once 10D met across both markets, target moves to 8D before peak season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6583680" y="389534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Dynamic Top 10: rank ASCs by volume × RTAT gap, apply REPAIR,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6583680" y="4078224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cycle list as accounts stabilize and new ones surface</a:t>
            </a:r>
            <a:endParaRPr lang="en-US" sz="800" dirty="0"/>
          </a:p>
        </p:txBody>
      </p:sp>
      <p:sp>
        <p:nvSpPr>
          <p:cNvPr id="23" name="Text 18"/>
          <p:cNvSpPr/>
          <p:nvPr/>
        </p:nvSpPr>
        <p:spPr>
          <a:xfrm>
            <a:off x="640080" y="4928616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Started at ~16% of pending at 30+ days when we took over</a:t>
            </a:r>
            <a:endParaRPr lang="en-US" sz="800" dirty="0"/>
          </a:p>
        </p:txBody>
      </p:sp>
      <p:sp>
        <p:nvSpPr>
          <p:cNvPr id="23" name="Text 18"/>
          <p:cNvSpPr/>
          <p:nvPr/>
        </p:nvSpPr>
        <p:spPr>
          <a:xfrm>
            <a:off x="640080" y="5111496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Now at ~9.4% combined (Graham 7.6%, Brown 11.4%)</a:t>
            </a:r>
            <a:endParaRPr lang="en-US" sz="800" dirty="0"/>
          </a:p>
        </p:txBody>
      </p:sp>
      <p:sp>
        <p:nvSpPr>
          <p:cNvPr id="23" name="Text 18"/>
          <p:cNvSpPr/>
          <p:nvPr/>
        </p:nvSpPr>
        <p:spPr>
          <a:xfrm>
            <a:off x="640080" y="5294376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Total pending: 1,888 → 1,570 (W8→W12)</a:t>
            </a:r>
            <a:endParaRPr lang="en-US" sz="800" dirty="0"/>
          </a:p>
        </p:txBody>
      </p:sp>
      <p:sp>
        <p:nvSpPr>
          <p:cNvPr id="23" name="Text 18"/>
          <p:cNvSpPr/>
          <p:nvPr/>
        </p:nvSpPr>
        <p:spPr>
          <a:xfrm>
            <a:off x="640080" y="5477256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Avg pending age: 12.9D combined, trending down</a:t>
            </a:r>
            <a:endParaRPr lang="en-US" sz="800" dirty="0"/>
          </a:p>
        </p:txBody>
      </p:sp>
      <p:sp>
        <p:nvSpPr>
          <p:cNvPr id="23" name="Text 18"/>
          <p:cNvSpPr/>
          <p:nvPr/>
        </p:nvSpPr>
        <p:spPr>
          <a:xfrm>
            <a:off x="640080" y="5660136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60+ day pending: 20 total — pushing toward zero</a:t>
            </a: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6583680" y="4590288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Pending managed holistically — not split by Urban/Rural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6583680" y="4773168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30+ day pending: ~16% → now ~9.4% (goal: 7%)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6583680" y="4956048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Push 30+ toward zero — remaining = backorder parts only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6583680" y="5138928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Once 30+ controlled, shift focus to 25-30 day bucket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6583680" y="5321808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Daily tracking via dashboard linked to Google Sheets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6583680" y="5504688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Avg pending days tracked WoW — target continuous reduction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800" dirty="0"/>
          </a:p>
        </p:txBody>
      </p:sp>
      <p:sp>
        <p:nvSpPr>
          <p:cNvPr id="36" name="Text 31"/>
          <p:cNvSpPr/>
          <p:nvPr/>
        </p:nvSpPr>
        <p:spPr>
          <a:xfrm>
            <a:off x="6583680" y="5687568"/>
            <a:ext cx="5120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Top 10 ASC avg pending age target: below 10 days</a:t>
            </a:r>
            <a:pPr indent="0" marL="0">
              <a:buNone/>
            </a:pPr>
            <a:pPr indent="0" marL="0">
              <a:buNone/>
            </a:pPr>
            <a:pPr indent="0" marL="0"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[Field Service] RTAT — ASM Servicer Breakdown (Appendix)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74320" y="438912"/>
            <a:ext cx="11612880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" y="502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Graham — Urban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37160" y="685800"/>
            <a:ext cx="2926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10.0D (Mar)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2926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94360"/>
                <a:gridCol w="594360"/>
              </a:tblGrid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DESIJA LLC (CO)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Atech Computer (OK)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TV Specialty Shop (OR)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C.J.J./TRISEC (NE)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24.2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 Electronics (HI)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Air Ways (UT)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Telco Electronics (ID)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Palm &amp; Shields (CA)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Lin's TV (TX)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154680" y="502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Graham — Rural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3154680" y="685800"/>
            <a:ext cx="2926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12.6D (Mar)</a:t>
            </a:r>
            <a:endParaRPr lang="en-US" sz="8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54680" y="868680"/>
          <a:ext cx="2926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94360"/>
                <a:gridCol w="594360"/>
              </a:tblGrid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Ares LLC (OK)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35.3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KS Appl (KS)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A-Fix Service (WA/OR)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Bergman Appl (NE)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25.1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Appliance Rx (MO)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Maynard Appliance (TX)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17.1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Tiger Mechanical (AZ)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A-OK Appliance (CO)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108960" y="502920"/>
            <a:ext cx="0" cy="5943600"/>
          </a:xfrm>
          <a:prstGeom prst="line">
            <a:avLst/>
          </a:prstGeom>
          <a:noFill/>
          <a:ln w="6350">
            <a:solidFill>
              <a:srgbClr val="D0D0D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172200" y="502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Brown — Urban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6172200" y="685800"/>
            <a:ext cx="2926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9.3D (Mar)</a:t>
            </a:r>
            <a:endParaRPr lang="en-US" sz="800" dirty="0"/>
          </a:p>
        </p:txBody>
      </p:sp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868680"/>
          <a:ext cx="2926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94360"/>
                <a:gridCol w="594360"/>
              </a:tblGrid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Splice Technologies (IN)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Consumers Mobile (FL)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Service (NY)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Mike's Electronics (KY)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30.5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Allen's TV (GA)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EXICOMM/Tony's TV (PA)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Blackies Inc (MI)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Habersham (GA)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23.3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Leader TV (NY)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25.4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126480" y="502920"/>
            <a:ext cx="0" cy="5943600"/>
          </a:xfrm>
          <a:prstGeom prst="line">
            <a:avLst/>
          </a:prstGeom>
          <a:noFill/>
          <a:ln w="6350">
            <a:solidFill>
              <a:srgbClr val="D0D0D0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9189720" y="502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Brown — Rural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9189720" y="685800"/>
            <a:ext cx="2926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13.0D (Mar)</a:t>
            </a:r>
            <a:endParaRPr lang="en-US" sz="800" dirty="0"/>
          </a:p>
        </p:txBody>
      </p:sp>
      <p:graphicFrame>
        <p:nvGraphicFramePr>
          <p:cNvPr id="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89720" y="868680"/>
          <a:ext cx="2926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94360"/>
                <a:gridCol w="594360"/>
              </a:tblGrid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Servicer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(4WK)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Disaster Appliance (FL)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Appliance (MI)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Appl (AL)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34.8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24.5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Ernie Krygier (MI)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16.6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Pye's Appliance (GA)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Appliance Medic (VA)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228B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 Appliance (NC)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22.2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27.6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Keisers Appl (VA)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30.9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Doctor Maint (MD)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37.0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8" name="Shape 12"/>
          <p:cNvSpPr/>
          <p:nvPr/>
        </p:nvSpPr>
        <p:spPr>
          <a:xfrm>
            <a:off x="9144000" y="502920"/>
            <a:ext cx="0" cy="5943600"/>
          </a:xfrm>
          <a:prstGeom prst="line">
            <a:avLst/>
          </a:prstGeom>
          <a:noFill/>
          <a:ln w="6350">
            <a:solidFill>
              <a:srgbClr val="D0D0D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FS MBR Apr 2026 — Urban/Rural RTAT</dc:title>
  <dc:subject>PptxGenJS Presentation</dc:subject>
  <dc:creator>Daniel Crafton</dc:creator>
  <cp:lastModifiedBy>Daniel Crafton</cp:lastModifiedBy>
  <cp:revision>1</cp:revision>
  <dcterms:created xsi:type="dcterms:W3CDTF">2026-04-07T22:16:55Z</dcterms:created>
  <dcterms:modified xsi:type="dcterms:W3CDTF">2026-04-07T22:16:55Z</dcterms:modified>
</cp:coreProperties>
</file>