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" y="73152"/>
            <a:ext cx="9144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[Field Service] 3-Day RTAT Market Overview Urban/Rural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0" y="548640"/>
            <a:ext cx="12188952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37744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March Review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965960" y="237744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April Strategy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429000" y="237744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7432" y="950976"/>
            <a:ext cx="2743200" cy="283464"/>
          </a:xfrm>
          <a:prstGeom prst="rect">
            <a:avLst/>
          </a:prstGeom>
          <a:solidFill>
            <a:srgbClr val="008000"/>
          </a:solidFill>
          <a:ln/>
        </p:spPr>
      </p:sp>
      <p:sp>
        <p:nvSpPr>
          <p:cNvPr id="8" name="Text 6"/>
          <p:cNvSpPr/>
          <p:nvPr/>
        </p:nvSpPr>
        <p:spPr>
          <a:xfrm>
            <a:off x="27432" y="950976"/>
            <a:ext cx="274320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Urban</a:t>
            </a:r>
            <a:endParaRPr lang="en-US" sz="11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82880" y="1335024"/>
          <a:ext cx="2971800" cy="914400"/>
        </p:xfrm>
        <a:graphic>
          <a:graphicData uri="http://schemas.openxmlformats.org/drawingml/2006/table">
            <a:tbl>
              <a:tblPr/>
              <a:tblGrid>
                <a:gridCol w="45720"/>
                <a:gridCol w="960120"/>
                <a:gridCol w="457200"/>
                <a:gridCol w="457200"/>
                <a:gridCol w="457200"/>
                <a:gridCol w="594360"/>
              </a:tblGrid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Dept KPI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Performance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8080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'25 Sep-Feb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8080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'26 Jan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8080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'26 Feb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8080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'26 Mar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RTAT (Days)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Urban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13.1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12.5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10.7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08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9.7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8080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Graham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8080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11.6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8080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10.7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8080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10.0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8080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Brown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8080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13.2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8080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10.7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8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9.3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 to 10D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2.5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08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-0.3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8080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Projection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8080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10.53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8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9.7 BEAT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3474720" y="1234440"/>
            <a:ext cx="3749040" cy="228600"/>
          </a:xfrm>
          <a:prstGeom prst="rect">
            <a:avLst/>
          </a:prstGeom>
          <a:solidFill>
            <a:srgbClr val="008000"/>
          </a:solidFill>
          <a:ln/>
        </p:spPr>
      </p:sp>
      <p:sp>
        <p:nvSpPr>
          <p:cNvPr id="11" name="Text 8"/>
          <p:cNvSpPr/>
          <p:nvPr/>
        </p:nvSpPr>
        <p:spPr>
          <a:xfrm>
            <a:off x="3474720" y="123444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RTAT Review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3566160" y="1508760"/>
            <a:ext cx="356616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008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Urban hit 9.7D in March — below 10D target
</a:t>
            </a:r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Brown at 9.3D — strongest ASM. Graham at 10.0D
</a:t>
            </a:r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11 of 20 one-pager ASCs now at WIN status (55%)
</a:t>
            </a:r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7 ASCs stabilized and handed off to new managers
</a:t>
            </a:r>
            <a:pPr indent="0" marL="0">
              <a:buNone/>
            </a:pPr>
            <a:r>
              <a:rPr lang="en-US" sz="700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Risks: Habersham +6.4D, Leader TV +3.6D, Palm&amp;Shields +4.5D
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7772400" y="1234440"/>
            <a:ext cx="4114800" cy="228600"/>
          </a:xfrm>
          <a:prstGeom prst="rect">
            <a:avLst/>
          </a:prstGeom>
          <a:solidFill>
            <a:srgbClr val="008000"/>
          </a:solidFill>
          <a:ln/>
        </p:spPr>
      </p:sp>
      <p:sp>
        <p:nvSpPr>
          <p:cNvPr id="14" name="Text 11"/>
          <p:cNvSpPr/>
          <p:nvPr/>
        </p:nvSpPr>
        <p:spPr>
          <a:xfrm>
            <a:off x="7772400" y="123444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RTAT Strategy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7863840" y="1508760"/>
            <a:ext cx="39319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REPAIR framework — monthly reviews per focus ASC
</a:t>
            </a:r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Selecting 5 new focus ASCs replacing handed-off accounts
</a:t>
            </a:r>
            <a:pPr indent="0" marL="0">
              <a:buNone/>
            </a:pPr>
            <a:r>
              <a:rPr lang="en-US" sz="700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Engage: A+ Appliance (+11.3D), Doctor Maint (+10.7D)
</a:t>
            </a:r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Redirect volume from non-improving to proven partners
</a:t>
            </a:r>
            <a:pPr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Target: Sustain sub-10D Urban through Q2
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3474720" y="3584448"/>
            <a:ext cx="3749040" cy="228600"/>
          </a:xfrm>
          <a:prstGeom prst="rect">
            <a:avLst/>
          </a:prstGeom>
          <a:solidFill>
            <a:srgbClr val="008000"/>
          </a:solidFill>
          <a:ln/>
        </p:spPr>
      </p:sp>
      <p:sp>
        <p:nvSpPr>
          <p:cNvPr id="17" name="Text 14"/>
          <p:cNvSpPr/>
          <p:nvPr/>
        </p:nvSpPr>
        <p:spPr>
          <a:xfrm>
            <a:off x="3474720" y="3584448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Pending Review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3566160" y="3858768"/>
            <a:ext cx="35661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488 open jobs | Avg 10.6 days | 113 No Cool
</a:t>
            </a:r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Graham: 272 (11.7D avg) | Brown: 216 (9.2D avg)
</a:t>
            </a:r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Top: Parts ordered (97), Waiting visit (79), Reschedule (59)
</a:t>
            </a:r>
            <a:pPr indent="0" marL="0">
              <a:buNone/>
            </a:pPr>
            <a:r>
              <a:rPr lang="en-US" sz="700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25 jobs aged 30+ days — escalation queue
</a:t>
            </a:r>
            <a:endParaRPr lang="en-US" sz="800" dirty="0"/>
          </a:p>
        </p:txBody>
      </p:sp>
      <p:sp>
        <p:nvSpPr>
          <p:cNvPr id="19" name="Shape 16"/>
          <p:cNvSpPr/>
          <p:nvPr/>
        </p:nvSpPr>
        <p:spPr>
          <a:xfrm>
            <a:off x="7772400" y="3584448"/>
            <a:ext cx="4114800" cy="228600"/>
          </a:xfrm>
          <a:prstGeom prst="rect">
            <a:avLst/>
          </a:prstGeom>
          <a:solidFill>
            <a:srgbClr val="008000"/>
          </a:solidFill>
          <a:ln/>
        </p:spPr>
      </p:sp>
      <p:sp>
        <p:nvSpPr>
          <p:cNvPr id="20" name="Text 17"/>
          <p:cNvSpPr/>
          <p:nvPr/>
        </p:nvSpPr>
        <p:spPr>
          <a:xfrm>
            <a:off x="7772400" y="3584448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Pending Strategy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7863840" y="3858768"/>
            <a:ext cx="39319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Prioritize 113 No Cool cases — direct ASC outreach
</a:t>
            </a:r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Target 30+ day pending (25 jobs) for escalation
</a:t>
            </a:r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Graham pending avg 2.5D higher than Brown — close gap
</a:t>
            </a:r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Parts ordering (97 jobs) — coordinate supply chain lead times
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182880" y="5669280"/>
            <a:ext cx="1179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08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Proven: </a:t>
            </a:r>
            <a:pPr indent="0" marL="0">
              <a:buNone/>
            </a:pPr>
            <a:r>
              <a:rPr lang="en-US" sz="7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Splice 26.3&gt;9.8D | Consumers Mobile 17.4&gt;6.4D | J&amp;J 20.5&gt;8.0D | DESIJA 16.9&gt;8.9D | Lifetime 21.4&gt;6.0D | Sams 12.4&gt;9.4D | Disaster 16.7&gt;10.0D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" y="73152"/>
            <a:ext cx="9144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[Field Service] 3-Day RTAT Market Overview Urban/Rural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0" y="548640"/>
            <a:ext cx="12188952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37744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March Review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965960" y="237744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April Strategy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429000" y="237744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7432" y="950976"/>
            <a:ext cx="2743200" cy="283464"/>
          </a:xfrm>
          <a:prstGeom prst="rect">
            <a:avLst/>
          </a:prstGeom>
          <a:solidFill>
            <a:srgbClr val="008000"/>
          </a:solidFill>
          <a:ln/>
        </p:spPr>
      </p:sp>
      <p:sp>
        <p:nvSpPr>
          <p:cNvPr id="8" name="Text 6"/>
          <p:cNvSpPr/>
          <p:nvPr/>
        </p:nvSpPr>
        <p:spPr>
          <a:xfrm>
            <a:off x="27432" y="950976"/>
            <a:ext cx="274320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Rural</a:t>
            </a:r>
            <a:endParaRPr lang="en-US" sz="11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82880" y="1335024"/>
          <a:ext cx="2971800" cy="914400"/>
        </p:xfrm>
        <a:graphic>
          <a:graphicData uri="http://schemas.openxmlformats.org/drawingml/2006/table">
            <a:tbl>
              <a:tblPr/>
              <a:tblGrid>
                <a:gridCol w="45720"/>
                <a:gridCol w="960120"/>
                <a:gridCol w="457200"/>
                <a:gridCol w="457200"/>
                <a:gridCol w="457200"/>
                <a:gridCol w="594360"/>
              </a:tblGrid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Dept KPI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Performance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8080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'25 Sep-Feb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8080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'26 Jan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8080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'26 Feb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8080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'26 Mar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RTAT (Days)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Rural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11.3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13.5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13.3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CC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12.8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8080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Graham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8080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14.0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8080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13.0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8080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12.6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8080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Brown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8080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13.2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8080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13.6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8080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13.0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 to 10D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1.3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3.5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3.3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CC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2.8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8080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L4 Weeks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8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11.9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8080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Apr Trend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8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11.4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3474720" y="1234440"/>
            <a:ext cx="3749040" cy="228600"/>
          </a:xfrm>
          <a:prstGeom prst="rect">
            <a:avLst/>
          </a:prstGeom>
          <a:solidFill>
            <a:srgbClr val="008000"/>
          </a:solidFill>
          <a:ln/>
        </p:spPr>
      </p:sp>
      <p:sp>
        <p:nvSpPr>
          <p:cNvPr id="11" name="Text 8"/>
          <p:cNvSpPr/>
          <p:nvPr/>
        </p:nvSpPr>
        <p:spPr>
          <a:xfrm>
            <a:off x="3474720" y="123444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RTAT Review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3566160" y="1508760"/>
            <a:ext cx="356616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Rural still above 10D — 12.8D in March
</a:t>
            </a:r>
            <a:pPr indent="0" marL="0">
              <a:buNone/>
            </a:pPr>
            <a:r>
              <a:rPr lang="en-US" sz="800" dirty="0">
                <a:solidFill>
                  <a:srgbClr val="008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April trending 11.4D — trajectory improving
</a:t>
            </a:r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8 of 19 one-pager ASCs at WIN status (42%)
</a:t>
            </a:r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A-OK Appliance: #1 drag, 25.8D down to 21.4D
</a:t>
            </a:r>
            <a:pPr indent="0" marL="0">
              <a:buNone/>
            </a:pPr>
            <a:r>
              <a:rPr lang="en-US" sz="700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Risks: Keisers 30.9D (+7.7D), Doctor Maint 37.0D (+15.3D)
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7772400" y="1234440"/>
            <a:ext cx="4114800" cy="228600"/>
          </a:xfrm>
          <a:prstGeom prst="rect">
            <a:avLst/>
          </a:prstGeom>
          <a:solidFill>
            <a:srgbClr val="008000"/>
          </a:solidFill>
          <a:ln/>
        </p:spPr>
      </p:sp>
      <p:sp>
        <p:nvSpPr>
          <p:cNvPr id="14" name="Text 11"/>
          <p:cNvSpPr/>
          <p:nvPr/>
        </p:nvSpPr>
        <p:spPr>
          <a:xfrm>
            <a:off x="7772400" y="123444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RTAT Strategy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7863840" y="1508760"/>
            <a:ext cx="39319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Top 5 impact ASCs targeted for immediate engagement
</a:t>
            </a:r>
            <a:pPr indent="0" marL="0">
              <a:buNone/>
            </a:pPr>
            <a:r>
              <a:rPr lang="en-US" sz="700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Keisers reversed 17.9&gt;30.9D — intervention required
</a:t>
            </a:r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Selecting replacement focus ASCs for 6 handed-off accounts
</a:t>
            </a:r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REPAIR framework with monthly data reviews
</a:t>
            </a:r>
            <a:pPr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Target: 11D by end Q2, 10D by Q3
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3474720" y="3584448"/>
            <a:ext cx="3749040" cy="228600"/>
          </a:xfrm>
          <a:prstGeom prst="rect">
            <a:avLst/>
          </a:prstGeom>
          <a:solidFill>
            <a:srgbClr val="008000"/>
          </a:solidFill>
          <a:ln/>
        </p:spPr>
      </p:sp>
      <p:sp>
        <p:nvSpPr>
          <p:cNvPr id="17" name="Text 14"/>
          <p:cNvSpPr/>
          <p:nvPr/>
        </p:nvSpPr>
        <p:spPr>
          <a:xfrm>
            <a:off x="3474720" y="3584448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Pending Review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3566160" y="3858768"/>
            <a:ext cx="35661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653 open jobs | Avg 13.3 days | 131 No Cool
</a:t>
            </a:r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Graham: 350 (12.3D) | Brown: 303 (14.5D)
</a:t>
            </a:r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Top: Parts ordered (133), Waiting visit (98), Reschedule (31)
</a:t>
            </a:r>
            <a:pPr indent="0" marL="0">
              <a:buNone/>
            </a:pPr>
            <a:r>
              <a:rPr lang="en-US" sz="700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62 jobs aged 30+ days — critical escalation
</a:t>
            </a:r>
            <a:endParaRPr lang="en-US" sz="800" dirty="0"/>
          </a:p>
        </p:txBody>
      </p:sp>
      <p:sp>
        <p:nvSpPr>
          <p:cNvPr id="19" name="Shape 16"/>
          <p:cNvSpPr/>
          <p:nvPr/>
        </p:nvSpPr>
        <p:spPr>
          <a:xfrm>
            <a:off x="7772400" y="3584448"/>
            <a:ext cx="4114800" cy="228600"/>
          </a:xfrm>
          <a:prstGeom prst="rect">
            <a:avLst/>
          </a:prstGeom>
          <a:solidFill>
            <a:srgbClr val="008000"/>
          </a:solidFill>
          <a:ln/>
        </p:spPr>
      </p:sp>
      <p:sp>
        <p:nvSpPr>
          <p:cNvPr id="20" name="Text 17"/>
          <p:cNvSpPr/>
          <p:nvPr/>
        </p:nvSpPr>
        <p:spPr>
          <a:xfrm>
            <a:off x="7772400" y="3584448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Pending Strategy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7863840" y="3858768"/>
            <a:ext cx="39319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131 No Cool cases — priority ASC engagement
</a:t>
            </a:r>
            <a:pPr indent="0" marL="0">
              <a:buNone/>
            </a:pPr>
            <a:r>
              <a:rPr lang="en-US" sz="700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62 jobs 30+ days — escalation path to ASMs
</a:t>
            </a:r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Brown pending avg 14.5D — 2.2D higher than Graham — close gap
</a:t>
            </a:r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Parts ordering (133 jobs) — supply chain alignment
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182880" y="5669280"/>
            <a:ext cx="1179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08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Proven: </a:t>
            </a:r>
            <a:pPr indent="0" marL="0">
              <a:buNone/>
            </a:pPr>
            <a:r>
              <a:rPr lang="en-US" sz="7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A-OK 25.8&gt;21.4D | Ares 35.3&gt;11.0D | Bergman 25.1&gt;14.8D | Ernie Krygier 21.9&gt;16.6D | Central KS 13.9&gt;11.2D | Disaster 16.7&gt;10.0D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FS MBR Apr 2026 — Urban/Rural RTAT</dc:title>
  <dc:subject>PptxGenJS Presentation</dc:subject>
  <dc:creator>Daniel Crafton</dc:creator>
  <cp:lastModifiedBy>Daniel Crafton</cp:lastModifiedBy>
  <cp:revision>1</cp:revision>
  <dcterms:created xsi:type="dcterms:W3CDTF">2026-04-07T21:09:05Z</dcterms:created>
  <dcterms:modified xsi:type="dcterms:W3CDTF">2026-04-07T21:09:05Z</dcterms:modified>
</cp:coreProperties>
</file>