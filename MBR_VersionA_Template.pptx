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3-Day RTAT Market Overview Urban/Rural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438912"/>
            <a:ext cx="1161288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02920"/>
            <a:ext cx="1161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758952"/>
            <a:ext cx="116128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2296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Top 10 Baseline</a:t>
            </a:r>
            <a:endParaRPr lang="en-US" sz="9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27432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94360"/>
                <a:gridCol w="594360"/>
                <a:gridCol w="548640"/>
              </a:tblGrid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13.09D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-3.4D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9999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Graham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10.0D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9999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Brown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9.3D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9999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Volume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2,525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4,250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11.33D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+1.5D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9999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Graham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12.6D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9999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Brown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13.0D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9999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Volume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21,693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4,689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9999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Apr Trend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11.4D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200400" y="822960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— 574 of 4,250 jobs (13.5%)</a:t>
            </a:r>
            <a:endParaRPr lang="en-US" sz="8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0" y="1051560"/>
          <a:ext cx="4206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40080"/>
                <a:gridCol w="640080"/>
                <a:gridCol w="640080"/>
              </a:tblGrid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Graham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DESIJA LLC (CO)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Atech Computer (OK)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TV Specialty Shop (OR)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Palm &amp; Shields (CA)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Lin's TV (TX)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Brown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 (NY)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Mike's Electronics (KY)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Allen's TV (GA)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Habersham (GA)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 TV (NY)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7589520" y="822960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 — 399 of 4,689 jobs (8.5%)</a:t>
            </a:r>
            <a:endParaRPr lang="en-US" sz="8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051560"/>
          <a:ext cx="4297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640080"/>
                <a:gridCol w="640080"/>
              </a:tblGrid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Graham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Ares LLC (OK)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Bergman Appl (NE)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A-OK Appliance (CO)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Appliance Rx (MO)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Brown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Ernie Krygier (MI)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Appl (AL)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Pye's Appliance (GA)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Keisers Appl (VA)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Doctor Maint (MD)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274320" y="3154680"/>
            <a:ext cx="116128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274320" y="3200400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74320" y="3456432"/>
            <a:ext cx="56692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080760" y="3154680"/>
            <a:ext cx="0" cy="365760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457200" y="35204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RTAT Review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640080" y="377647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Urban: 13.09D → </a:t>
            </a:r>
            <a:pPr indent="0" marL="0">
              <a:buNone/>
            </a:pPr>
            <a:r>
              <a:rPr lang="en-US" sz="8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(Mar) — below 10D target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640080" y="395935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Rural: 11.33D → </a:t>
            </a:r>
            <a:pPr indent="0" marL="0">
              <a:buNone/>
            </a:pPr>
            <a:r>
              <a:rPr lang="en-US" sz="8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(Mar) — Apr trending </a:t>
            </a:r>
            <a:pPr indent="0" marL="0">
              <a:buNone/>
            </a:pPr>
            <a:r>
              <a:rPr lang="en-US" sz="800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11.4D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640080" y="414223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7 ASCs stabilized by our team, handed off</a:t>
            </a:r>
            <a:endParaRPr lang="en-US" sz="800" dirty="0"/>
          </a:p>
        </p:txBody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370832"/>
          <a:ext cx="4937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731520"/>
                <a:gridCol w="73152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Handed Off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Splice Technologies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Consumers Mobile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Disaster Appliance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J&amp;J Electronics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KS Appliance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5"/>
          <p:cNvSpPr/>
          <p:nvPr/>
        </p:nvSpPr>
        <p:spPr>
          <a:xfrm>
            <a:off x="457200" y="550468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Pending Review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40080" y="5760720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Urban: 93 top-10 pending, 10.6D avg delay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640080" y="5943600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Rural: 53 top-10 pending, 17.4D avg delay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640080" y="6126480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Appliance Medic: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avg delay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640080" y="6309360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TV Specialty Shop: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avg delay</a:t>
            </a:r>
            <a:endParaRPr lang="en-US" sz="800" dirty="0"/>
          </a:p>
        </p:txBody>
      </p:sp>
      <p:sp>
        <p:nvSpPr>
          <p:cNvPr id="26" name="Text 20"/>
          <p:cNvSpPr/>
          <p:nvPr/>
        </p:nvSpPr>
        <p:spPr>
          <a:xfrm>
            <a:off x="6217920" y="3200400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Strategy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6217920" y="3456432"/>
            <a:ext cx="56692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6400800" y="35204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RTAT Strategy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6583680" y="377647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REPAIR Framework: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6583680" y="395935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    Rank  |  Establish  |  Process  |  Amplify  |  Integrate  |  Redirect</a:t>
            </a:r>
            <a:endParaRPr lang="en-US" sz="700" dirty="0"/>
          </a:p>
        </p:txBody>
      </p:sp>
      <p:sp>
        <p:nvSpPr>
          <p:cNvPr id="31" name="Text 25"/>
          <p:cNvSpPr/>
          <p:nvPr/>
        </p:nvSpPr>
        <p:spPr>
          <a:xfrm>
            <a:off x="6583680" y="414223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10D target — once met, move to 8D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583680" y="432511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Selecting new focus ASCs for handed-off accounts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6583680" y="450799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Engage: Doctor Maint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(37.0D)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Keisers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(30.9D)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6583680" y="469087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Urban: hold 10D, push to 8D by Q3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6583680" y="487375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Rural: 11D by Q2, 10D by Q3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6400800" y="5166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Pending Strategy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6583680" y="542239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Appliance Medic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immediate escalation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6583680" y="560527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A-OK: 16 pending — accelerate scheduling</a:t>
            </a:r>
            <a:endParaRPr lang="en-US" sz="800" dirty="0"/>
          </a:p>
        </p:txBody>
      </p:sp>
      <p:sp>
        <p:nvSpPr>
          <p:cNvPr id="39" name="Text 33"/>
          <p:cNvSpPr/>
          <p:nvPr/>
        </p:nvSpPr>
        <p:spPr>
          <a:xfrm>
            <a:off x="6583680" y="578815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Target: top-10 avg delay below 10D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FS MBR Apr 2026 — Urban/Rural RTAT</dc:title>
  <dc:subject>PptxGenJS Presentation</dc:subject>
  <dc:creator>Daniel Crafton</dc:creator>
  <cp:lastModifiedBy>Daniel Crafton</cp:lastModifiedBy>
  <cp:revision>1</cp:revision>
  <dcterms:created xsi:type="dcterms:W3CDTF">2026-04-07T21:58:33Z</dcterms:created>
  <dcterms:modified xsi:type="dcterms:W3CDTF">2026-04-07T21:58:33Z</dcterms:modified>
</cp:coreProperties>
</file>