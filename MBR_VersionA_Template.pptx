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3-Day RTAT Market Overview Urban/Rural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3035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94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3200400" cy="0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594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0" y="868680"/>
            <a:ext cx="4114800" cy="0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0" y="5943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868680"/>
            <a:ext cx="3931920" cy="0"/>
          </a:xfrm>
          <a:prstGeom prst="line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594360"/>
            <a:ext cx="0" cy="576072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0" y="594360"/>
            <a:ext cx="0" cy="576072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96012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Top 10 Baseline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32004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31520"/>
                <a:gridCol w="731520"/>
                <a:gridCol w="64008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13.09D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Volume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11.33D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+1.5D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Volume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Apr Trend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3840480" y="960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Review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023360" y="125272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Urban: 13.09D </a:t>
            </a:r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9.7D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below 10D target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023360" y="143560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Rural: 11.33D </a:t>
            </a:r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Apr trending </a:t>
            </a:r>
            <a:pPr indent="0" marL="0">
              <a:buNone/>
            </a:pPr>
            <a:r>
              <a:rPr lang="en-US" sz="800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11.4D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023360" y="161848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7 ASCs stabilized by our team, handed off</a:t>
            </a:r>
            <a:endParaRPr lang="en-US" sz="8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874520"/>
          <a:ext cx="3931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45720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Handed Off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3840480" y="32369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Review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023360" y="3529584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93 top-10 pending, 10.6D avg delay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4023360" y="3712464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53 top-10 pending, 17.4D avg delay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4023360" y="3895344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Appliance Medic: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023360" y="4078224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 Specialty Shop: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8229600" y="960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Strategy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412480" y="125272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REPAIR Framework: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8412480" y="143560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Rank gap servicers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8412480" y="161848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Establish expectations (10D target)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8412480" y="180136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Process standardization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8412480" y="198424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Amplify visibility (live dashboard)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8412480" y="216712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Integrate teams (cross-ASM)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8412480" y="235000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Redirect volume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8412480" y="260604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10D target — once met, move to 8D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8412480" y="278892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Selecting new focus ASCs for handed-off accounts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8412480" y="297180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Engage: Doctor Maint 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(37.0D)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Keisers 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(30.9D)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8412480" y="315468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hold 10D, push to 8D by Q3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8412480" y="333756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11D by Q2, 10D by Q3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8229600" y="37490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Strategy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8412480" y="404164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Appliance Medic 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immediate escalation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412480" y="422452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A-OK: 16 pending — accelerate scheduling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8412480" y="440740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Target: top-10 avg delay below 10D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274320" y="329184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— Top 10 Servicers (574 of 4,250 jobs, 13.5%)</a:t>
            </a:r>
            <a:endParaRPr lang="en-US" sz="7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520440"/>
          <a:ext cx="3200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02920"/>
                <a:gridCol w="502920"/>
                <a:gridCol w="50292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Lin's TV (TX)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Allen's TV (GA)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(GA)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3" name="Text 38"/>
          <p:cNvSpPr/>
          <p:nvPr/>
        </p:nvSpPr>
        <p:spPr>
          <a:xfrm>
            <a:off x="274320" y="562356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— Top 10 Servicers (399 of 4,689 jobs, 8.5%)</a:t>
            </a:r>
            <a:endParaRPr lang="en-US" sz="70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852160"/>
          <a:ext cx="3200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02920"/>
                <a:gridCol w="502920"/>
                <a:gridCol w="502920"/>
              </a:tblGrid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Appl (AL)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 MBR Apr 2026 — Urban/Rural RTAT</dc:title>
  <dc:subject>PptxGenJS Presentation</dc:subject>
  <dc:creator>Daniel Crafton</dc:creator>
  <cp:lastModifiedBy>Daniel Crafton</cp:lastModifiedBy>
  <cp:revision>1</cp:revision>
  <dcterms:created xsi:type="dcterms:W3CDTF">2026-04-07T21:44:20Z</dcterms:created>
  <dcterms:modified xsi:type="dcterms:W3CDTF">2026-04-07T21:44:20Z</dcterms:modified>
</cp:coreProperties>
</file>