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" y="73152"/>
            <a:ext cx="9144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3-Day RTAT Market Overview Urban/Rural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88952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96596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Strategy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2900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" y="950976"/>
            <a:ext cx="2743200" cy="283464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" y="95097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</a:t>
            </a:r>
            <a:endParaRPr lang="en-US" sz="11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1335024"/>
          <a:ext cx="3291840" cy="914400"/>
        </p:xfrm>
        <a:graphic>
          <a:graphicData uri="http://schemas.openxmlformats.org/drawingml/2006/table">
            <a:tbl>
              <a:tblPr/>
              <a:tblGrid>
                <a:gridCol w="45720"/>
                <a:gridCol w="1005840"/>
                <a:gridCol w="457200"/>
                <a:gridCol w="457200"/>
                <a:gridCol w="457200"/>
                <a:gridCol w="5486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Dept KPI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'25 Sep-Feb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Jan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Feb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Mar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RTAT (Days)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 Combined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Graham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to 10D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 BEAT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474720" y="1234440"/>
            <a:ext cx="374904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11" name="Text 8"/>
          <p:cNvSpPr/>
          <p:nvPr/>
        </p:nvSpPr>
        <p:spPr>
          <a:xfrm>
            <a:off x="3474720" y="12344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Review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566160" y="150876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Urban hit 9.7D in March — below 10D target for first time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Brown at 9.3D — strongest ASM. Graham at 10.0D — nearly there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11 of 20 one-pager ASCs now at WIN status (55%)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7 ASCs stabilized by our team and handed off to new managers
</a:t>
            </a:r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Risks: Habersham +6.4D, Leader TV +3.6D, Palm&amp;Shields +4.5D
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772400" y="1234440"/>
            <a:ext cx="374904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12344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Strategy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863840" y="150876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Continue REPAIR framework — monthly reviews per focus ASC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Selecting 5 new focus ASCs to replace handed-off accounts
</a:t>
            </a:r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Immediate engagement: A+ Appliance (+11.3D), Doctor Maint (+10.7D)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Redirect volume from non-improving ASCs to proven partners
</a:t>
            </a:r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Target: Sustain sub-10D Urban through Q2
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3474720" y="3584448"/>
            <a:ext cx="374904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17" name="Text 14"/>
          <p:cNvSpPr/>
          <p:nvPr/>
        </p:nvSpPr>
        <p:spPr>
          <a:xfrm>
            <a:off x="3474720" y="358444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Review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566160" y="3858768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488 open jobs | Avg 10.6 days | 113 No Cool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Graham: 272 jobs (11.7D avg) — Brown: 216 jobs (9.2D avg)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Parts ordered: 97 jobs | Waiting visit: 79 | Reschedule: 59
</a:t>
            </a:r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25 jobs aged 30+ days — escalation queue
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7772400" y="3584448"/>
            <a:ext cx="374904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0" y="358444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Strategy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863840" y="3858768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Prioritize 113 No Cool cases — direct ASC outreach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 30+ day pending (25 jobs) for escalation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Graham pending avg 2.5D higher than Brown — close gap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Parts ordering (97 jobs) — coordinate supply chain lead times
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82880" y="5669280"/>
            <a:ext cx="1179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Proven: </a:t>
            </a:r>
            <a:pPr indent="0" marL="0">
              <a:buNone/>
            </a:pPr>
            <a:r>
              <a:rPr lang="en-US" sz="7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Splice 26.3→9.8D | Consumers Mobile 17.4→6.4D | J&amp;J 20.5→8.0D | DESIJA 16.9→8.9D | Lifetime 21.4→6.0D | Sams 12.4→9.4D | Disaster 16.7→10.0D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" y="73152"/>
            <a:ext cx="9144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3-Day RTAT Market Overview Urban/Rural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88952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96596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Strategy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2900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" y="950976"/>
            <a:ext cx="2743200" cy="283464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" y="95097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1335024"/>
          <a:ext cx="3291840" cy="914400"/>
        </p:xfrm>
        <a:graphic>
          <a:graphicData uri="http://schemas.openxmlformats.org/drawingml/2006/table">
            <a:tbl>
              <a:tblPr/>
              <a:tblGrid>
                <a:gridCol w="45720"/>
                <a:gridCol w="1005840"/>
                <a:gridCol w="457200"/>
                <a:gridCol w="457200"/>
                <a:gridCol w="457200"/>
                <a:gridCol w="5486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Dept KPI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'25 Sep-Feb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Jan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Feb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Mar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RTAT (Days)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 Combined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Graham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to 10D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 Weeks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 ↓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8080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 Trend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474720" y="1234440"/>
            <a:ext cx="374904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11" name="Text 8"/>
          <p:cNvSpPr/>
          <p:nvPr/>
        </p:nvSpPr>
        <p:spPr>
          <a:xfrm>
            <a:off x="3474720" y="12344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Review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566160" y="150876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Rural still above 10D — 12.8D in March, 11.9D last 4 weeks
</a:t>
            </a:r>
            <a:pPr indent="0" marL="0"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April trending 11.4D — trajectory is right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8 of 19 one-pager ASCs at WIN status (42%)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A-OK Appliance: #1 drag, down from 25.8D to 21.4D
</a:t>
            </a:r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Risks: Keisers 30.9D (+7.7D), Doctor Maint 37.0D (+15.3D)
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772400" y="1234440"/>
            <a:ext cx="374904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12344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RTAT Strategy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863840" y="150876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 5 impact ASCs targeted for immediate engagement
</a:t>
            </a:r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Keisers reversed 17.9→30.9D — intervention required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Selecting replacement focus ASCs for 6 handed-off accounts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Continue REPAIR framework with monthly data reviews
</a:t>
            </a:r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Target: 11D by end Q2, 10D by Q3
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3474720" y="3584448"/>
            <a:ext cx="374904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17" name="Text 14"/>
          <p:cNvSpPr/>
          <p:nvPr/>
        </p:nvSpPr>
        <p:spPr>
          <a:xfrm>
            <a:off x="3474720" y="358444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Review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566160" y="3858768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653 open jobs | Avg 13.3 days | 131 No Cool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Graham: 350 jobs (12.3D) — Brown: 303 jobs (14.5D)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Parts ordered: 133 | Waiting visit: 98 | Reschedule: 31
</a:t>
            </a:r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62 jobs aged 30+ days — critical escalation
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7772400" y="3584448"/>
            <a:ext cx="374904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0" y="358444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Strategy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863840" y="3858768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131 No Cool cases — priority ASC engagement
</a:t>
            </a:r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62 jobs 30+ days — escalation path to ASMs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Brown pending avg 14.5D — 2.2D higher than Graham — close gap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Parts ordering largest driver (133 jobs) — supply chain alignment
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82880" y="5669280"/>
            <a:ext cx="1179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Proven: </a:t>
            </a:r>
            <a:pPr indent="0" marL="0">
              <a:buNone/>
            </a:pPr>
            <a:r>
              <a:rPr lang="en-US" sz="7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A-OK 25.8→21.4D | Ares 35.3→11.0D | Bergman 25.1→14.8D | Ernie Krygier 21.9→16.6D | Central KS 13.9→11.2D | Disaster 16.7→10.0D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FS MBR Apr 2026 — Urban/Rural</dc:title>
  <dc:subject>PptxGenJS Presentation</dc:subject>
  <dc:creator>Daniel Crafton</dc:creator>
  <cp:lastModifiedBy>Daniel Crafton</cp:lastModifiedBy>
  <cp:revision>1</cp:revision>
  <dcterms:created xsi:type="dcterms:W3CDTF">2026-04-07T21:03:24Z</dcterms:created>
  <dcterms:modified xsi:type="dcterms:W3CDTF">2026-04-07T21:03:24Z</dcterms:modified>
</cp:coreProperties>
</file>