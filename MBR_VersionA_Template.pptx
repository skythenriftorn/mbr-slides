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[Field Service] Urban RTAT Market Overview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" y="32004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Review | April Strategy | Performance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82880" y="685800"/>
            <a:ext cx="2194560" cy="274320"/>
          </a:xfrm>
          <a:prstGeom prst="rect">
            <a:avLst>
              <a:gd name="adj" fmla="val 16667"/>
            </a:avLst>
          </a:prstGeom>
          <a:solidFill>
            <a:srgbClr val="2B4A7A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" y="6858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468880" y="685800"/>
            <a:ext cx="2194560" cy="274320"/>
          </a:xfrm>
          <a:prstGeom prst="rect">
            <a:avLst>
              <a:gd name="adj" fmla="val 16667"/>
            </a:avLst>
          </a:prstGeom>
          <a:solidFill>
            <a:srgbClr val="E0E0E0"/>
          </a:solidFill>
          <a:ln/>
        </p:spPr>
      </p:sp>
      <p:sp>
        <p:nvSpPr>
          <p:cNvPr id="8" name="Text 6"/>
          <p:cNvSpPr/>
          <p:nvPr/>
        </p:nvSpPr>
        <p:spPr>
          <a:xfrm>
            <a:off x="2468880" y="6858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Review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754880" y="685800"/>
            <a:ext cx="2194560" cy="274320"/>
          </a:xfrm>
          <a:prstGeom prst="rect">
            <a:avLst>
              <a:gd name="adj" fmla="val 16667"/>
            </a:avLst>
          </a:prstGeom>
          <a:solidFill>
            <a:srgbClr val="E0E0E0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6858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RTAT Review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040880" y="685800"/>
            <a:ext cx="2194560" cy="274320"/>
          </a:xfrm>
          <a:prstGeom prst="rect">
            <a:avLst>
              <a:gd name="adj" fmla="val 16667"/>
            </a:avLst>
          </a:prstGeom>
          <a:solidFill>
            <a:srgbClr val="E0E0E0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0" y="6858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Strategy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326880" y="685800"/>
            <a:ext cx="2194560" cy="274320"/>
          </a:xfrm>
          <a:prstGeom prst="rect">
            <a:avLst>
              <a:gd name="adj" fmla="val 16667"/>
            </a:avLst>
          </a:prstGeom>
          <a:solidFill>
            <a:srgbClr val="E0E0E0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0" y="6858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RTAT Strategy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64008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822960"/>
                <a:gridCol w="640080"/>
                <a:gridCol w="640080"/>
                <a:gridCol w="640080"/>
                <a:gridCol w="100584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Dept KPI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Performance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'25 Sep-Feb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'26 Jan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'26 Feb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'26 Mar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from OnePager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RTAT (Days)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Urban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-3.4D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Graham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-3.1D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-3.8D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10-Day Gap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-0.3D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MET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OnePager Proj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10.53D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BEAT PROJ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949440" y="1097280"/>
            <a:ext cx="4937760" cy="1005840"/>
          </a:xfrm>
          <a:prstGeom prst="rect">
            <a:avLst/>
          </a:prstGeom>
          <a:solidFill>
            <a:srgbClr val="FFF8F0"/>
          </a:solidFill>
          <a:ln w="12700">
            <a:solidFill>
              <a:srgbClr val="E8D0B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49440" y="1097280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Review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132320" y="132588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488 open Urban jobs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Avg 10.6 days | 113 No Cool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Graham: 272 jobs (11.7D avg) | Brown: 216 jobs (9.2D avg)
</a:t>
            </a:r>
            <a:pPr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Top: Parts ordered (97), Waiting visit date (79), Reschedule parts (59)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949440" y="2286000"/>
            <a:ext cx="4937760" cy="1371600"/>
          </a:xfrm>
          <a:prstGeom prst="rect">
            <a:avLst/>
          </a:prstGeom>
          <a:solidFill>
            <a:srgbClr val="F0FFF0"/>
          </a:solidFill>
          <a:ln w="12700">
            <a:solidFill>
              <a:srgbClr val="B0D8B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49440" y="2286000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RTAT Review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132320" y="251460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Urban RTAT dropped from 13.1D to 9.7D in March — </a:t>
            </a:r>
            <a:pPr indent="0" marL="0">
              <a:buNone/>
            </a:pPr>
            <a:r>
              <a:rPr lang="en-US" sz="800" b="1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10D target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Brown at 9.3D — strongest ASM performance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11 of 20 tracked ASCs are at or beating one-pager targets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7 ASCs stabilized and handed off to new managers
</a:t>
            </a:r>
            <a:pPr indent="0" marL="0">
              <a:buNone/>
            </a:pPr>
            <a:r>
              <a:rPr lang="en-US" sz="800" b="1" dirty="0">
                <a:solidFill>
                  <a:srgbClr val="CC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Risks: </a:t>
            </a:r>
            <a:pPr indent="0" marL="0">
              <a:buNone/>
            </a:pPr>
            <a:r>
              <a:rPr lang="en-US" sz="700" dirty="0">
                <a:solidFill>
                  <a:srgbClr val="CC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Habersham +6.4D, Leader TV +3.6D, Palm &amp; Shields +4.5D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274320" y="3840480"/>
            <a:ext cx="5669280" cy="1371600"/>
          </a:xfrm>
          <a:prstGeom prst="rect">
            <a:avLst/>
          </a:prstGeom>
          <a:solidFill>
            <a:srgbClr val="F0F0FF"/>
          </a:solidFill>
          <a:ln w="12700">
            <a:solidFill>
              <a:srgbClr val="B0B0D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74320" y="3840480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Strategy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40690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Prioritize 113 No Cool cases — direct ASC engagement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 30+ day pending (25 jobs) for escalation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Graham avg delay 11.7D vs Brown 9.2D — focus Graham pending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Parts ordering (97 jobs) — coordinate with supply chain on lead times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6217920" y="3840480"/>
            <a:ext cx="5669280" cy="1371600"/>
          </a:xfrm>
          <a:prstGeom prst="rect">
            <a:avLst/>
          </a:prstGeom>
          <a:solidFill>
            <a:srgbClr val="FFF0F0"/>
          </a:solidFill>
          <a:ln w="12700">
            <a:solidFill>
              <a:srgbClr val="D8B0B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17920" y="3840480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RTAT Strategy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400800" y="40690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REPAIR framework continues — Rank, Engage, Process, Amplify, Integrate, Redirect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 wave: 5 new focus ASCs replacing handed-off accounts
</a:t>
            </a:r>
            <a:pPr indent="0" marL="0">
              <a:buNone/>
            </a:pPr>
            <a:r>
              <a:rPr lang="en-US" sz="700" dirty="0">
                <a:solidFill>
                  <a:srgbClr val="CC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Worsening ASCs (A+ Appliance +11.3D, Doctor Maintenance +10.7D) — immediate engagement
</a:t>
            </a:r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Target: sustain sub-10D Urban through Q2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274320" y="5394960"/>
            <a:ext cx="11612880" cy="457200"/>
          </a:xfrm>
          <a:prstGeom prst="rect">
            <a:avLst/>
          </a:prstGeom>
          <a:solidFill>
            <a:srgbClr val="E8F5E8"/>
          </a:solidFill>
          <a:ln w="6350">
            <a:solidFill>
              <a:srgbClr val="B0D8B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Results: </a:t>
            </a:r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Splice 26.3→9.8D | Consumers Mobile 17.4→6.4D | J&amp;J 20.5→8.0D | DESIJA 16.9→8.9D | Lifetime 21.4→6.0D | Sams 12.4→9.4D | Disaster 16.7→10.0D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274320" y="5943600"/>
            <a:ext cx="1161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Scoreboard: </a:t>
            </a:r>
            <a:pPr indent="0" marL="0">
              <a:buNone/>
            </a:pPr>
            <a:r>
              <a:rPr lang="en-US" sz="800" b="1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 WIN</a:t>
            </a:r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5% Trending | 10% Stable | </a:t>
            </a:r>
            <a:pPr indent="0" marL="0">
              <a:buNone/>
            </a:pPr>
            <a:r>
              <a:rPr lang="en-US" sz="700" dirty="0">
                <a:solidFill>
                  <a:srgbClr val="CC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Risk</a:t>
            </a:r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5% Handed Off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[Field Service] Rural RTAT Market Overview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" y="32004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Review | April Strategy | Performance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82880" y="685800"/>
            <a:ext cx="2194560" cy="274320"/>
          </a:xfrm>
          <a:prstGeom prst="rect">
            <a:avLst>
              <a:gd name="adj" fmla="val 16667"/>
            </a:avLst>
          </a:prstGeom>
          <a:solidFill>
            <a:srgbClr val="2B4A7A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" y="6858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468880" y="685800"/>
            <a:ext cx="2194560" cy="274320"/>
          </a:xfrm>
          <a:prstGeom prst="rect">
            <a:avLst>
              <a:gd name="adj" fmla="val 16667"/>
            </a:avLst>
          </a:prstGeom>
          <a:solidFill>
            <a:srgbClr val="E0E0E0"/>
          </a:solidFill>
          <a:ln/>
        </p:spPr>
      </p:sp>
      <p:sp>
        <p:nvSpPr>
          <p:cNvPr id="8" name="Text 6"/>
          <p:cNvSpPr/>
          <p:nvPr/>
        </p:nvSpPr>
        <p:spPr>
          <a:xfrm>
            <a:off x="2468880" y="6858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Review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754880" y="685800"/>
            <a:ext cx="2194560" cy="274320"/>
          </a:xfrm>
          <a:prstGeom prst="rect">
            <a:avLst>
              <a:gd name="adj" fmla="val 16667"/>
            </a:avLst>
          </a:prstGeom>
          <a:solidFill>
            <a:srgbClr val="E0E0E0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6858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RTAT Review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040880" y="685800"/>
            <a:ext cx="2194560" cy="274320"/>
          </a:xfrm>
          <a:prstGeom prst="rect">
            <a:avLst>
              <a:gd name="adj" fmla="val 16667"/>
            </a:avLst>
          </a:prstGeom>
          <a:solidFill>
            <a:srgbClr val="E0E0E0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0" y="6858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Strategy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326880" y="685800"/>
            <a:ext cx="2194560" cy="274320"/>
          </a:xfrm>
          <a:prstGeom prst="rect">
            <a:avLst>
              <a:gd name="adj" fmla="val 16667"/>
            </a:avLst>
          </a:prstGeom>
          <a:solidFill>
            <a:srgbClr val="E0E0E0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0" y="6858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RTAT Strategy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64008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822960"/>
                <a:gridCol w="640080"/>
                <a:gridCol w="640080"/>
                <a:gridCol w="640080"/>
                <a:gridCol w="100584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Dept KPI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Performance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'25 Sep-Feb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'26 Jan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'26 Feb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'26 Mar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from OnePager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RTAT (Days)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Rural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+1.5D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Graham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+1.3D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+1.7D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10-Day Gap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Gap: 2.8D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 Wks RTAT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[object Object]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Trending 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949440" y="1097280"/>
            <a:ext cx="4937760" cy="1005840"/>
          </a:xfrm>
          <a:prstGeom prst="rect">
            <a:avLst/>
          </a:prstGeom>
          <a:solidFill>
            <a:srgbClr val="FFF8F0"/>
          </a:solidFill>
          <a:ln w="12700">
            <a:solidFill>
              <a:srgbClr val="E8D0B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49440" y="1097280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Review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132320" y="132588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653 open Rural jobs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Avg 13.3 days | 131 No Cool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Graham: 350 jobs (12.3D) | Brown: 303 jobs (14.5D avg)
</a:t>
            </a:r>
            <a:pPr indent="0" marL="0">
              <a:buNone/>
            </a:pPr>
            <a:r>
              <a:rPr lang="en-US" sz="700" dirty="0">
                <a:solidFill>
                  <a:srgbClr val="CC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jobs 30+ days old — </a:t>
            </a:r>
            <a:pPr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Top: Parts ordered (133), Waiting visit (98)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949440" y="2286000"/>
            <a:ext cx="4937760" cy="1371600"/>
          </a:xfrm>
          <a:prstGeom prst="rect">
            <a:avLst/>
          </a:prstGeom>
          <a:solidFill>
            <a:srgbClr val="F0FFF0"/>
          </a:solidFill>
          <a:ln w="12700">
            <a:solidFill>
              <a:srgbClr val="B0D8B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49440" y="2286000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RTAT Review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132320" y="251460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Rural RTAT still above 10D target — 12.8D in March
</a:t>
            </a:r>
            <a:pPr indent="0" marL="0">
              <a:buNone/>
            </a:pPr>
            <a:r>
              <a:rPr lang="en-US" sz="800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April trending to 11.4D — trajectory is right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8 of 19 tracked ASCs at WIN status (42%)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A-OK Appliance: biggest win — 25.8D down to 21.4D (was #1 drag)
</a:t>
            </a:r>
            <a:pPr indent="0" marL="0">
              <a:buNone/>
            </a:pPr>
            <a:r>
              <a:rPr lang="en-US" sz="800" b="1" dirty="0">
                <a:solidFill>
                  <a:srgbClr val="CC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Risks: </a:t>
            </a:r>
            <a:pPr indent="0" marL="0">
              <a:buNone/>
            </a:pPr>
            <a:r>
              <a:rPr lang="en-US" sz="700" dirty="0">
                <a:solidFill>
                  <a:srgbClr val="CC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Keisers +7.7D, Doctor Maint +15.3D, Adv Appliance +5.4D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274320" y="3840480"/>
            <a:ext cx="5669280" cy="1371600"/>
          </a:xfrm>
          <a:prstGeom prst="rect">
            <a:avLst/>
          </a:prstGeom>
          <a:solidFill>
            <a:srgbClr val="F0F0FF"/>
          </a:solidFill>
          <a:ln w="12700">
            <a:solidFill>
              <a:srgbClr val="B0B0D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74320" y="3840480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Strategy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40690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131 No Cool — priority engagement with ASCs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62 jobs aged 30+ days — escalation path to ASMs
</a:t>
            </a:r>
            <a:pPr indent="0" marL="0">
              <a:buNone/>
            </a:pPr>
            <a:r>
              <a:rPr lang="en-US" sz="800" dirty="0">
                <a:solidFill>
                  <a:srgbClr val="CC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Brown pending avg 14.5D — 2.2D higher than Graham — close gap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Parts ordering (133 jobs) largest pending driver — supply chain alignment needed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6217920" y="3840480"/>
            <a:ext cx="5669280" cy="1371600"/>
          </a:xfrm>
          <a:prstGeom prst="rect">
            <a:avLst/>
          </a:prstGeom>
          <a:solidFill>
            <a:srgbClr val="FFF0F0"/>
          </a:solidFill>
          <a:ln w="12700">
            <a:solidFill>
              <a:srgbClr val="D8B0B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17920" y="3840480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RTAT Strategy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400800" y="40690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Top 5 impact ASCs account for majority of excess days — targeted engagement
</a:t>
            </a:r>
            <a:pPr indent="0" marL="0">
              <a:buNone/>
            </a:pPr>
            <a:r>
              <a:rPr lang="en-US" sz="700" dirty="0">
                <a:solidFill>
                  <a:srgbClr val="CC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Keisers reversed from 17.9→30.9D — requires immediate intervention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Selecting replacement focus ASCs for 6 handed-off accounts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Continue REPAIR framework — monthly data-driven reviews per ASC
</a:t>
            </a:r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Target: Rural to 11D by end of Q2, 10D by Q3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274320" y="5394960"/>
            <a:ext cx="11612880" cy="457200"/>
          </a:xfrm>
          <a:prstGeom prst="rect">
            <a:avLst/>
          </a:prstGeom>
          <a:solidFill>
            <a:srgbClr val="E8F5E8"/>
          </a:solidFill>
          <a:ln w="6350">
            <a:solidFill>
              <a:srgbClr val="B0D8B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Results: </a:t>
            </a:r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A-OK 25.8→21.4D | Ares 35.3→11.0D | Bergman 25.1→14.8D | Ernie Krygier 21.9→16.6D | Central KS 13.9→11.2D | A-Fix 15.1→13.8D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274320" y="5943600"/>
            <a:ext cx="1161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Scoreboard: </a:t>
            </a:r>
            <a:pPr indent="0" marL="0">
              <a:buNone/>
            </a:pPr>
            <a:r>
              <a:rPr lang="en-US" sz="800" b="1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 WIN</a:t>
            </a:r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26% Trending | 11% Stable | </a:t>
            </a:r>
            <a:pPr indent="0" marL="0">
              <a:buNone/>
            </a:pPr>
            <a:r>
              <a:rPr lang="en-US" sz="700" dirty="0">
                <a:solidFill>
                  <a:srgbClr val="CC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 Risk</a:t>
            </a:r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5% Gone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FS MBR Apr 2026 — Urban/Rural RTAT</dc:title>
  <dc:subject>PptxGenJS Presentation</dc:subject>
  <dc:creator>Daniel Crafton</dc:creator>
  <cp:lastModifiedBy>Daniel Crafton</cp:lastModifiedBy>
  <cp:revision>1</cp:revision>
  <dcterms:created xsi:type="dcterms:W3CDTF">2026-04-07T20:47:13Z</dcterms:created>
  <dcterms:modified xsi:type="dcterms:W3CDTF">2026-04-07T20:47:13Z</dcterms:modified>
</cp:coreProperties>
</file>