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18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41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 CALCULATION</a:t>
            </a:r>
          </a:p>
          <a:p>
            <a:r>
              <a:t>===============</a:t>
            </a:r>
          </a:p>
          <a:p>
            <a:endParaRPr/>
          </a:p>
          <a:p>
            <a:r>
              <a:t>WHAT IS IMPACT SCORE?</a:t>
            </a:r>
          </a:p>
          <a:p>
            <a:r>
              <a:t>The servicer's RTAT times their volume. It creates a score - the higher the number,</a:t>
            </a:r>
          </a:p>
          <a:p>
            <a:r>
              <a:t>the bigger the impact on the network.</a:t>
            </a:r>
          </a:p>
          <a:p>
            <a:endParaRPr/>
          </a:p>
          <a:p>
            <a:r>
              <a:t>  Example: A-OK Appliance Service (CO)</a:t>
            </a:r>
          </a:p>
          <a:p>
            <a:r>
              <a:t>  367 jobs x 25.8 avg RTAT = 9,469 Impact Score</a:t>
            </a:r>
          </a:p>
          <a:p>
            <a:endParaRPr/>
          </a:p>
          <a:p>
            <a:r>
              <a:t>WHAT IS TARGET SCORE?</a:t>
            </a:r>
          </a:p>
          <a:p>
            <a:r>
              <a:t>What their RTAT would be if it was at 10 days, times the volume.</a:t>
            </a:r>
          </a:p>
          <a:p>
            <a:r>
              <a:t>Essentially what the Impact Score should look like at goal.</a:t>
            </a:r>
          </a:p>
          <a:p>
            <a:endParaRPr/>
          </a:p>
          <a:p>
            <a:r>
              <a:t>  Example: A-OK Appliance Service (CO)</a:t>
            </a:r>
          </a:p>
          <a:p>
            <a:r>
              <a:t>  367 jobs x 10 day target = 3,670 Target Score</a:t>
            </a:r>
          </a:p>
          <a:p>
            <a:endParaRPr/>
          </a:p>
          <a:p>
            <a:r>
              <a:t>WHAT IS GAP?</a:t>
            </a:r>
          </a:p>
          <a:p>
            <a:r>
              <a:t>Subtract one from the other. Whoever has the highest gap is having the</a:t>
            </a:r>
          </a:p>
          <a:p>
            <a:r>
              <a:t>biggest impact on the network.</a:t>
            </a:r>
          </a:p>
          <a:p>
            <a:endParaRPr/>
          </a:p>
          <a:p>
            <a:r>
              <a:t>  Example: A-OK Appliance Service (CO)</a:t>
            </a:r>
          </a:p>
          <a:p>
            <a:r>
              <a:t>  9,469 Impact - 3,670 Target = +5,799 Gap</a:t>
            </a:r>
          </a:p>
          <a:p>
            <a:endParaRPr/>
          </a:p>
          <a:p>
            <a:r>
              <a:t>  A-OK has the highest gap in Dan's territory, so they are #1 on his list.</a:t>
            </a:r>
          </a:p>
          <a:p>
            <a:endParaRPr/>
          </a:p>
          <a:p>
            <a:r>
              <a:t>WHY THIS MATTERS:</a:t>
            </a:r>
          </a:p>
          <a:p>
            <a:r>
              <a:t>Volume changes everything. A servicer averaging 70 days on 24 jobs is far less</a:t>
            </a:r>
          </a:p>
          <a:p>
            <a:r>
              <a:t>damaging than one averaging 25.8 days on 367 jobs. Gap captures both speed</a:t>
            </a:r>
          </a:p>
          <a:p>
            <a:r>
              <a:t>and scale so we focus where it moves the needle the most.</a:t>
            </a:r>
          </a:p>
          <a:p>
            <a:endParaRPr/>
          </a:p>
          <a:p>
            <a:r>
              <a:t>Top 10 per ASM = 20 servicers = ~11% of total rural volume (2,337 of 21,693 jobs).</a:t>
            </a:r>
          </a:p>
          <a:p>
            <a:endParaRPr/>
          </a:p>
          <a:p>
            <a:r>
              <a:t>Data: Sep 2025 - Feb 2026 (6 months) | RTAT Target: 10 days</a:t>
            </a:r>
          </a:p>
          <a:p>
            <a:r>
              <a:t>Service Power excluded (nationwide platform, not individually managed)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33908-C687-907A-290C-C06769050B2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35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KmY0gBa8N3cmZVGV67gY0QXFoLLuugAU6nBAwxcWL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 Narrow"/>
              </a:rPr>
              <a:t>Rural Market RTAT Reduction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rial Narrow"/>
              </a:rPr>
              <a:t>6-Month Data: Sep 2025 - Feb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" y="438912"/>
            <a:ext cx="9656064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502920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 Narrow"/>
              </a:rPr>
              <a:t>Target </a:t>
            </a:r>
            <a:r>
              <a:rPr sz="1500" b="0">
                <a:solidFill>
                  <a:srgbClr val="000000"/>
                </a:solidFill>
                <a:latin typeface="Arial Narrow"/>
              </a:rPr>
              <a:t>Top 20 ASC by Gap to improve RTAT across </a:t>
            </a:r>
            <a:r>
              <a:rPr sz="1500" b="1">
                <a:solidFill>
                  <a:srgbClr val="000000"/>
                </a:solidFill>
                <a:latin typeface="Arial Narrow"/>
              </a:rPr>
              <a:t>~11%</a:t>
            </a:r>
            <a:r>
              <a:rPr sz="1500" b="0">
                <a:solidFill>
                  <a:srgbClr val="000000"/>
                </a:solidFill>
                <a:latin typeface="Arial Narrow"/>
              </a:rPr>
              <a:t> of rural volume (2,337 of 21,693 jobs).  10-Day RTAT Goal.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777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600"/>
                </a:solidFill>
                <a:latin typeface="Arial Narrow"/>
              </a:rPr>
              <a:t>30-Day Goal : </a:t>
            </a:r>
            <a:r>
              <a:rPr sz="1100" b="0">
                <a:solidFill>
                  <a:srgbClr val="006600"/>
                </a:solidFill>
                <a:latin typeface="Arial Narrow"/>
              </a:rPr>
              <a:t>Reduce each Top 10 servicer to 10-Day RTAT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77724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06600"/>
                </a:solidFill>
                <a:latin typeface="Arial Narrow"/>
              </a:rPr>
              <a:t>Projected Network Impact : </a:t>
            </a:r>
            <a:r>
              <a:rPr sz="900" b="0">
                <a:solidFill>
                  <a:srgbClr val="006600"/>
                </a:solidFill>
                <a:latin typeface="Arial Narrow"/>
              </a:rPr>
              <a:t>11.33D current &gt;&gt; 10.17D projected  (-1.16 days, 10.2%)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" y="105156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</a:rPr>
              <a:t>Action Plan : REPAIR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1307592"/>
            <a:ext cx="4526280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" y="1371600"/>
            <a:ext cx="73152" cy="2331720"/>
          </a:xfrm>
          <a:prstGeom prst="rect">
            <a:avLst/>
          </a:prstGeom>
          <a:solidFill>
            <a:srgbClr val="99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" y="13990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R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ank Gap Servicers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Gap shows how far ASC performance is from target - tells us who impacts the network most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17647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E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stablish Expectations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Specific RTAT targets per ASC, monthly data-driven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1305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P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rocess Standardization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Consistent claim filing, share top-performer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24963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A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mplify Visibility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Monitor pending dispatches, coverage gap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286207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I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ntegrate Teams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Cross-ASM collaboration on shared servicers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32278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R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edirect Volume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Move jobs from non-improving ASCs to alternative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" y="3749039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</a:rPr>
              <a:t>Indicators : Improving RTAT Trends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4005071"/>
            <a:ext cx="4526280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7160" y="4069079"/>
            <a:ext cx="73152" cy="2606040"/>
          </a:xfrm>
          <a:prstGeom prst="rect">
            <a:avLst/>
          </a:prstGeom>
          <a:solidFill>
            <a:srgbClr val="99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" y="409651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Ares LLC (OK)  60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28.5 &gt; 14.5D  -49%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" y="4443983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Appliance Medic (VA)  24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43.6 &gt; 9.5D  -78%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" y="4791455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Keisers Appliance (VA)  109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30.1 &gt; 19.6D  -35%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" y="5138927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Maynard Appliance (TX)  141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21.3 &gt; 15.9D  -25%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548639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A-Fix Service (WA)  282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16.9 &gt; 15.3D  -9% reduction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" y="583387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First Appliance (MI)  292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15.0 &gt; 14.1D  -6%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318503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55AA"/>
                </a:solidFill>
                <a:latin typeface="Arial Narrow"/>
                <a:hlinkClick r:id="rId3"/>
              </a:rPr>
              <a:t>Live Dashboard : Google Sheets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95180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</a:rPr>
              <a:t>Dan Graham - Top 10 by Gap  |  1,409 Jobs (11.8%)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1289304"/>
            <a:ext cx="4892040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360810"/>
              </p:ext>
            </p:extLst>
          </p:nvPr>
        </p:nvGraphicFramePr>
        <p:xfrm>
          <a:off x="4892040" y="1226124"/>
          <a:ext cx="4892038" cy="2676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2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Servicer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Vol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Gap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RTAT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Trend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A-OK Appliance Svc (CO)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27.3&gt;28.8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367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+5,799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25.8D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+1.5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A-Fix Service Inc (WA)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16.9&gt;15.3D (-9%)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282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+1,692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16.0D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-1.6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Ares LLC (OK)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28.5&gt;14.5D (-49%)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60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+1,518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35.3D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-14.0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Alpha 1 Service (MO)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62.3&gt;101.0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+1,450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70.4D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+38.7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Appliance Rx (MO)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22.5&gt;32.3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97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+1,329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23.7D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+9.8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Maynard Appliance (TX)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21.3&gt;15.9D (-25%)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141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+987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17.0D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-5.4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Tiger Mechanical Svc (AZ)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11.6&gt;18.0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88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+968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21.0D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+6.4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Central KS Appliance (KS)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7.5&gt;14.9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209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+815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13.9D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+7.4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A-Fix Service Inc (OR)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14.4&gt;18.8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97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+698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17.2D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+4.4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Bergman Appliance (NE)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14.8&gt;53.5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44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+664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25.1D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+38.7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965192" y="393274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</a:rPr>
              <a:t>Trey (Robert Brown) - Top 10 by Gap  |  928 Jobs (9.6%)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270248"/>
            <a:ext cx="4892040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694387"/>
              </p:ext>
            </p:extLst>
          </p:nvPr>
        </p:nvGraphicFramePr>
        <p:xfrm>
          <a:off x="4892040" y="4207068"/>
          <a:ext cx="4892038" cy="2657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2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Servicer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Vol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Gap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RTAT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Trend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Ernie Krygier Service (MI)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20.6&gt;26.8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155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+1,844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21.9D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+6.2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Keisers Appliance Svc (VA)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30.1&gt;19.6D (-35%)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109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+1,439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23.2D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-10.5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First Appliance Svc (MI)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292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+1,197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14.1D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-0.9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Quality Appliance Sol (AL)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44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+1,091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34.8D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-0.3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Doctor Maintenance (MD)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16.1&gt;23.2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62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+725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21.7D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+7.1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Appliance Medic (VA)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43.6&gt;9.5D (-78%)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+670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37.9D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-34.1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Pye's Appliance (GA)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17.6&gt;22.8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86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+662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17.7D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+5.2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Adv Appliance Svc (NC)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11.0&gt;38.0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46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+561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22.2D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+27.0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US Appliance Inc (TN)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30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+552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28.4D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+0.8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Disaster Appliance (FL)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15.6&gt;17.9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80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+536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16.7D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 Narrow"/>
                        </a:rPr>
                        <a:t>+2.3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831</Words>
  <Application>Microsoft Office PowerPoint</Application>
  <PresentationFormat>A4 Paper (210x297 mm)</PresentationFormat>
  <Paragraphs>196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Arial Narrow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Crafton/Part Leader/LGEAI Nationwide</cp:lastModifiedBy>
  <cp:revision>2</cp:revision>
  <dcterms:created xsi:type="dcterms:W3CDTF">2013-01-27T09:14:16Z</dcterms:created>
  <dcterms:modified xsi:type="dcterms:W3CDTF">2026-03-10T00:57:27Z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2026-03-10T00:57:27Z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9e916c3e-984c-44c0-9b8e-8140fc5f6b0e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LGE Internal Use Only</vt:lpwstr>
  </property>
</Properties>
</file>