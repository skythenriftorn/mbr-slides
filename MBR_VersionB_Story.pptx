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Urban &amp; Rural RTAT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Review | April Strategy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5029200" cy="2560320"/>
          </a:xfrm>
          <a:prstGeom prst="rect">
            <a:avLst>
              <a:gd name="adj" fmla="val 3571"/>
            </a:avLst>
          </a:prstGeom>
          <a:solidFill>
            <a:srgbClr val="1E3A5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A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66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023360" y="31089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BB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RTAT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40233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One-Pager: 13.1D  →  Now: 9.7D
</a:t>
            </a:r>
            <a:pPr algn="ctr" indent="0" marL="0">
              <a:buNone/>
            </a:pPr>
            <a:r>
              <a:rPr lang="en-US" sz="900" b="1" dirty="0">
                <a:solidFill>
                  <a:srgbClr val="66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MET  |  BEAT PROJECTION (10.53D)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0" y="2286000"/>
            <a:ext cx="5029200" cy="2560320"/>
          </a:xfrm>
          <a:prstGeom prst="rect">
            <a:avLst>
              <a:gd name="adj" fmla="val 3571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23774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A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0" y="265176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FFA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9692640" y="31089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AA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3749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4 Weeks RTAT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0" y="40233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One-Pager: 11.3D  →  Now: 11.9D
</a:t>
            </a:r>
            <a:pPr algn="ctr" indent="0" marL="0">
              <a:buNone/>
            </a:pPr>
            <a:r>
              <a:rPr lang="en-US" sz="900" dirty="0">
                <a:solidFill>
                  <a:srgbClr val="FFA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trending 11.4D — trajectory improving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5303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4,250 Urban claims  |  4,689 Rural claims  |  1,141 Pending  |  REPAIR Framework Active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Results — REPAIR Framework in Action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" y="3200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One-Pager targets (Sep 2025) vs Current Performance (Mar 2026)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77724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Stabilized &amp; Handed Off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760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"/>
                <a:gridCol w="731520"/>
                <a:gridCol w="20116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5A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5A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5A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5A2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Splice Technologies (IN)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Trained, handed to Gosman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Consumers Mobile (FL)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Shifted to Dejesus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Disaster Appliance (FL)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 target, handed off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KS Appliance (KS)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Reduced, reassigned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A-Fix Service (WA/OR)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Reassigned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Maynard Appliance (TX)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17.1D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reduced 20/mo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Appliance (MI)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Reassigned — slight increase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309360" y="7772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Wins (Still Under Our Management)</a:t>
            </a:r>
            <a:endParaRPr lang="en-US" sz="11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097280"/>
          <a:ext cx="5577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822960"/>
                <a:gridCol w="9144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5A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One-Pager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5A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5A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5A2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J&amp;J Electronics (WI)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-12.5D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Ares LLC (OK)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-24.3D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Service (NY)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-15.4D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Mikes Electronics (KY)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30.5D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-13.5D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DESIJA LLC (CO)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-8.0D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Bergman Appliance (NE)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25.1D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-10.4D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Ernie Krygier (MI)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-5.3D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274320" y="3337560"/>
            <a:ext cx="11612880" cy="274320"/>
          </a:xfrm>
          <a:prstGeom prst="rect">
            <a:avLst/>
          </a:prstGeom>
          <a:solidFill>
            <a:srgbClr val="FFE8E8"/>
          </a:solidFill>
          <a:ln/>
        </p:spPr>
      </p:sp>
      <p:sp>
        <p:nvSpPr>
          <p:cNvPr id="10" name="Text 6"/>
          <p:cNvSpPr/>
          <p:nvPr/>
        </p:nvSpPr>
        <p:spPr>
          <a:xfrm>
            <a:off x="274320" y="3337560"/>
            <a:ext cx="1161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1000" dirty="0"/>
          </a:p>
        </p:txBody>
      </p:sp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657600"/>
          <a:ext cx="116128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822960"/>
                <a:gridCol w="822960"/>
                <a:gridCol w="731520"/>
                <a:gridCol w="2011680"/>
                <a:gridCol w="22860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2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2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One-Pager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2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2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2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2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222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Keisers Appliance (VA)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30.9D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Reversed — was improving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Immediate re-engagement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Doctor Maintenance (MD)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37.0D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+15.3D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Escalation meeting scheduled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Habersham Electronics (GA)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Urban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23.3D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Worsening trend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Process review underway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 Appliance Svc (NC)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22.2D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27.6D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+5.4D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Worsening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Redirect volume if no improvement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 TV &amp; Video (NY)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Urban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Continued decline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Volume redirect evaluation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274320" y="5212080"/>
            <a:ext cx="11612880" cy="548640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74320" y="5852160"/>
            <a:ext cx="5657557" cy="320040"/>
          </a:xfrm>
          <a:prstGeom prst="rect">
            <a:avLst/>
          </a:prstGeom>
          <a:solidFill>
            <a:srgbClr val="66AA66"/>
          </a:solidFill>
          <a:ln/>
        </p:spPr>
      </p:sp>
      <p:sp>
        <p:nvSpPr>
          <p:cNvPr id="14" name="Text 9"/>
          <p:cNvSpPr/>
          <p:nvPr/>
        </p:nvSpPr>
        <p:spPr>
          <a:xfrm>
            <a:off x="274320" y="5852160"/>
            <a:ext cx="565755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49%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931877" y="5852160"/>
            <a:ext cx="1786597" cy="320040"/>
          </a:xfrm>
          <a:prstGeom prst="rect">
            <a:avLst/>
          </a:prstGeom>
          <a:solidFill>
            <a:srgbClr val="88CC88"/>
          </a:solidFill>
          <a:ln/>
        </p:spPr>
      </p:sp>
      <p:sp>
        <p:nvSpPr>
          <p:cNvPr id="16" name="Text 11"/>
          <p:cNvSpPr/>
          <p:nvPr/>
        </p:nvSpPr>
        <p:spPr>
          <a:xfrm>
            <a:off x="5931877" y="5852160"/>
            <a:ext cx="178659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Trending 15%</a:t>
            </a:r>
            <a:endParaRPr lang="en-US" sz="700" dirty="0"/>
          </a:p>
        </p:txBody>
      </p:sp>
      <p:sp>
        <p:nvSpPr>
          <p:cNvPr id="17" name="Shape 12"/>
          <p:cNvSpPr/>
          <p:nvPr/>
        </p:nvSpPr>
        <p:spPr>
          <a:xfrm>
            <a:off x="7718474" y="5852160"/>
            <a:ext cx="1191065" cy="320040"/>
          </a:xfrm>
          <a:prstGeom prst="rect">
            <a:avLst/>
          </a:prstGeom>
          <a:solidFill>
            <a:srgbClr val="DDDDAA"/>
          </a:solidFill>
          <a:ln/>
        </p:spPr>
      </p:sp>
      <p:sp>
        <p:nvSpPr>
          <p:cNvPr id="18" name="Text 13"/>
          <p:cNvSpPr/>
          <p:nvPr/>
        </p:nvSpPr>
        <p:spPr>
          <a:xfrm>
            <a:off x="7718474" y="5852160"/>
            <a:ext cx="119106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10%</a:t>
            </a:r>
            <a:endParaRPr lang="en-US" sz="700" dirty="0"/>
          </a:p>
        </p:txBody>
      </p:sp>
      <p:sp>
        <p:nvSpPr>
          <p:cNvPr id="19" name="Shape 14"/>
          <p:cNvSpPr/>
          <p:nvPr/>
        </p:nvSpPr>
        <p:spPr>
          <a:xfrm>
            <a:off x="8909538" y="5852160"/>
            <a:ext cx="2382129" cy="320040"/>
          </a:xfrm>
          <a:prstGeom prst="rect">
            <a:avLst/>
          </a:prstGeom>
          <a:solidFill>
            <a:srgbClr val="DD8888"/>
          </a:solidFill>
          <a:ln/>
        </p:spPr>
      </p:sp>
      <p:sp>
        <p:nvSpPr>
          <p:cNvPr id="20" name="Text 15"/>
          <p:cNvSpPr/>
          <p:nvPr/>
        </p:nvSpPr>
        <p:spPr>
          <a:xfrm>
            <a:off x="8909538" y="5852160"/>
            <a:ext cx="238212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21%</a:t>
            </a:r>
            <a:endParaRPr lang="en-US" sz="700" dirty="0"/>
          </a:p>
        </p:txBody>
      </p:sp>
      <p:sp>
        <p:nvSpPr>
          <p:cNvPr id="21" name="Shape 16"/>
          <p:cNvSpPr/>
          <p:nvPr/>
        </p:nvSpPr>
        <p:spPr>
          <a:xfrm>
            <a:off x="11291668" y="5852160"/>
            <a:ext cx="595532" cy="320040"/>
          </a:xfrm>
          <a:prstGeom prst="rect">
            <a:avLst/>
          </a:prstGeom>
          <a:solidFill>
            <a:srgbClr val="BBBBBB"/>
          </a:solidFill>
          <a:ln/>
        </p:spPr>
      </p:sp>
      <p:sp>
        <p:nvSpPr>
          <p:cNvPr id="22" name="Text 17"/>
          <p:cNvSpPr/>
          <p:nvPr/>
        </p:nvSpPr>
        <p:spPr>
          <a:xfrm>
            <a:off x="274320" y="5623560"/>
            <a:ext cx="1161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Scoreboard — 39 One-Pager ASCs Tracked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Review &amp; Forward Strategy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" y="3200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open jobs and next quarter 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5669280" cy="2377440"/>
          </a:xfrm>
          <a:prstGeom prst="rect">
            <a:avLst/>
          </a:prstGeom>
          <a:solidFill>
            <a:srgbClr val="FAFA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77240"/>
            <a:ext cx="5669280" cy="274320"/>
          </a:xfrm>
          <a:prstGeom prst="rect">
            <a:avLst/>
          </a:prstGeom>
          <a:solidFill>
            <a:srgbClr val="E8D0A0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77724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Pending — 488 Jobs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32004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731520"/>
                <a:gridCol w="73152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Graham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333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Jobs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Delay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Cool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 Days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840480" y="114300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Reasons: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Parts ordered: 97 (20%)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Waiting visit date: 79 (16%)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Reschedule for parts: 59 (12%)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6217920" y="777240"/>
            <a:ext cx="5669280" cy="2377440"/>
          </a:xfrm>
          <a:prstGeom prst="rect">
            <a:avLst/>
          </a:prstGeom>
          <a:solidFill>
            <a:srgbClr val="FAFA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17920" y="777240"/>
            <a:ext cx="5669280" cy="274320"/>
          </a:xfrm>
          <a:prstGeom prst="rect">
            <a:avLst/>
          </a:prstGeom>
          <a:solidFill>
            <a:srgbClr val="D0A0A0"/>
          </a:solidFill>
          <a:ln/>
        </p:spPr>
      </p:sp>
      <p:sp>
        <p:nvSpPr>
          <p:cNvPr id="12" name="Text 9"/>
          <p:cNvSpPr/>
          <p:nvPr/>
        </p:nvSpPr>
        <p:spPr>
          <a:xfrm>
            <a:off x="6217920" y="77724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 Pending — 653 Jobs</a:t>
            </a:r>
            <a:endParaRPr lang="en-US" sz="10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143000"/>
          <a:ext cx="32004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731520"/>
                <a:gridCol w="73152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Graham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3333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Jobs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Delay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12.3D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Cool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 Days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9784080" y="114300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Reasons: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Parts ordered: 133 (20%)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Waiting visit date: 98 (15%)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Reschedule other: 31 (5%)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274320" y="3337560"/>
            <a:ext cx="11612880" cy="2743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2"/>
          <p:cNvSpPr/>
          <p:nvPr/>
        </p:nvSpPr>
        <p:spPr>
          <a:xfrm>
            <a:off x="274320" y="3337560"/>
            <a:ext cx="1161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Strategy — Q2 2026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57200" y="3703320"/>
            <a:ext cx="56692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Framework — Next Wave
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 — Selecting replacement focus ASCs for 7 handed-off accounts using impact scoring
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stablish — Monthly data-driven reviews per ASC with specific RTAT targets
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rocess — Standardize claim filing; share top-performer workflows
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mplify — Live Google Sheets dashboard tracking pending + RTAT weekly
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ntegrate — Cross-ASM collaboration on shared servicers
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edirect — Move jobs from non-improving ASCs to proven partners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400800" y="3703320"/>
            <a:ext cx="5394960" cy="2560320"/>
          </a:xfrm>
          <a:prstGeom prst="rect">
            <a:avLst/>
          </a:prstGeom>
          <a:solidFill>
            <a:srgbClr val="F5F5FF"/>
          </a:solidFill>
          <a:ln w="12700">
            <a:solidFill>
              <a:srgbClr val="D0D0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400800" y="370332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2B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Targets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583680" y="397764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
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Sustain sub-10D through Q2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Engage 5 worsening ASCs (A+, Doctor Maint, Diversified, NPS, Palm&amp;Shields)
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Reduce pending avg from 10.6D to 8D
</a:t>
            </a:r>
            <a:pPr indent="0" marL="0">
              <a:buNone/>
            </a:pPr>
            <a:r>
              <a:rPr lang="en-US" sz="1000" b="1" dirty="0">
                <a:solidFill>
                  <a:srgbClr val="CC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
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Reach 11D by end of Q2
</a:t>
            </a:r>
            <a:pPr indent="0" marL="0">
              <a:buNone/>
            </a:pPr>
            <a:r>
              <a:rPr lang="en-US" sz="800" dirty="0">
                <a:solidFill>
                  <a:srgbClr val="CC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Intervene on Keisers (30.9D) and Doctor Maintenance (37.0D)
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Reduce 30+ day pending from 62 to under 30
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 10D by Q3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 Rural RTAT — Story of Improvement</dc:title>
  <dc:subject>PptxGenJS Presentation</dc:subject>
  <dc:creator>Daniel Crafton</dc:creator>
  <cp:lastModifiedBy>Daniel Crafton</cp:lastModifiedBy>
  <cp:revision>1</cp:revision>
  <dcterms:created xsi:type="dcterms:W3CDTF">2026-04-07T20:47:13Z</dcterms:created>
  <dcterms:modified xsi:type="dcterms:W3CDTF">2026-04-07T20:47:13Z</dcterms:modified>
</cp:coreProperties>
</file>