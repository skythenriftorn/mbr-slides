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" y="73152"/>
            <a:ext cx="9144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Urban &amp; Rural RTAT — March Review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8895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96596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2900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371600"/>
            <a:ext cx="5486400" cy="1280160"/>
          </a:xfrm>
          <a:prstGeom prst="rect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371600"/>
            <a:ext cx="5486400" cy="274320"/>
          </a:xfrm>
          <a:prstGeom prst="rect">
            <a:avLst/>
          </a:prstGeom>
          <a:solidFill>
            <a:srgbClr val="008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9.7D</a:t>
            </a:r>
            <a:pPr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March RTAT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57200" y="2240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13.1D → Now 9.7D  |  </a:t>
            </a:r>
            <a:pPr indent="0" marL="0">
              <a:buNone/>
            </a:pPr>
            <a:r>
              <a:rPr lang="en-US" sz="9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MET  |  BEAT PROJECTION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0" y="1371600"/>
            <a:ext cx="5486400" cy="1280160"/>
          </a:xfrm>
          <a:prstGeom prst="rect">
            <a:avLst/>
          </a:prstGeom>
          <a:noFill/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371600"/>
            <a:ext cx="5486400" cy="274320"/>
          </a:xfrm>
          <a:prstGeom prst="rect">
            <a:avLst/>
          </a:prstGeom>
          <a:solidFill>
            <a:srgbClr val="008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0" y="16916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11.9D</a:t>
            </a:r>
            <a:pPr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Last 4 Weeks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583680" y="2240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11.3D → Now 11.9D  |  </a:t>
            </a:r>
            <a:pPr indent="0" marL="0">
              <a:buNone/>
            </a:pPr>
            <a:r>
              <a:rPr lang="en-US" sz="9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trending 11.4D — improving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4320" y="2834640"/>
            <a:ext cx="11612880" cy="228600"/>
          </a:xfrm>
          <a:prstGeom prst="rect">
            <a:avLst/>
          </a:prstGeom>
          <a:solidFill>
            <a:srgbClr val="008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RTAT Trend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108960"/>
          <a:ext cx="116128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280160"/>
                <a:gridCol w="1280160"/>
                <a:gridCol w="1280160"/>
                <a:gridCol w="1280160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'25 Sep-Feb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Jan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Feb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'26 Mar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 (partial)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 Combined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 Combined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Graham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Brown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274320" y="5029200"/>
            <a:ext cx="11612880" cy="228600"/>
          </a:xfrm>
          <a:prstGeom prst="rect">
            <a:avLst/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One-Pager Scoreboard</a:t>
            </a:r>
            <a:endParaRPr lang="en-US" sz="9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5303520"/>
          <a:ext cx="11612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246888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Trending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Handed Off/Gone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00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 (20 ASCs)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 (19 ASCs)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" y="73152"/>
            <a:ext cx="9144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Strategy Results — What We Did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8895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96596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2900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" y="1371600"/>
            <a:ext cx="5852160" cy="228600"/>
          </a:xfrm>
          <a:prstGeom prst="rect">
            <a:avLst/>
          </a:prstGeom>
          <a:solidFill>
            <a:srgbClr val="008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Stabilized &amp; Handed Off — Our Team Fixed These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40080"/>
                <a:gridCol w="640080"/>
                <a:gridCol w="201168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Splice Technologies (IN)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Trained, handed to Gosman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Consumers Mobile (FL)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Shifted to Dejesus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Disaster Appliance (FL)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Hit target, handed off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KS (KS)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Reduced, reassigned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A-Fix Service (WA/OR)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Reassigned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Maynard Appliance (TX)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17.1D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reduced 20/mo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Appliance (MI)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Reassigned — slight increase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17920" y="1371600"/>
            <a:ext cx="5760720" cy="228600"/>
          </a:xfrm>
          <a:prstGeom prst="rect">
            <a:avLst/>
          </a:prstGeom>
          <a:solidFill>
            <a:srgbClr val="008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Wins — Still Under Our Management</a:t>
            </a:r>
            <a:endParaRPr lang="en-US" sz="9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645920"/>
          <a:ext cx="5760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731520"/>
                <a:gridCol w="9144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J&amp;J Electronics (WI)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20.5D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-12.5D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Ares LLC (OK)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Lifetime Service (NY)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Mikes Electronics (KY)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30.5D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-13.5D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DESIJA LLC (CO)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Bergman Appliance (NE)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25.1D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Ernie Krygier (MI)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182880" y="3749040"/>
            <a:ext cx="11795760" cy="228600"/>
          </a:xfrm>
          <a:prstGeom prst="rect">
            <a:avLst/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900" dirty="0"/>
          </a:p>
        </p:txBody>
      </p:sp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4023360"/>
          <a:ext cx="11795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0080"/>
                <a:gridCol w="640080"/>
                <a:gridCol w="731520"/>
                <a:gridCol w="731520"/>
                <a:gridCol w="274320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Keisers Appliance (VA)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30.9D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+7.7D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Immediate re-engagement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Doctor Maintenance (MD)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Escalation meeting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Habersham Electronics (GA)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Process review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 Appliance Svc (NC)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27.6D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Redirect volume if no fix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 TV &amp; Video (NY)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Urban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+3.6D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 redirect eval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" y="73152"/>
            <a:ext cx="9144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[Field Service] Pending &amp; Forward Strategy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88952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Review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96596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Strategy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429000" y="23774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8" name="Text 6"/>
          <p:cNvSpPr/>
          <p:nvPr/>
        </p:nvSpPr>
        <p:spPr>
          <a:xfrm>
            <a:off x="27432" y="950976"/>
            <a:ext cx="27432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" y="1371600"/>
            <a:ext cx="5669280" cy="228600"/>
          </a:xfrm>
          <a:prstGeom prst="rect">
            <a:avLst/>
          </a:prstGeom>
          <a:solidFill>
            <a:srgbClr val="008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Urban Pending — 488 Jobs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1645920"/>
          <a:ext cx="5669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46304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Jobs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Delay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8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Cool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 Days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Reason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ordered (97)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309360" y="1371600"/>
            <a:ext cx="5669280" cy="228600"/>
          </a:xfrm>
          <a:prstGeom prst="rect">
            <a:avLst/>
          </a:prstGeom>
          <a:solidFill>
            <a:srgbClr val="008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Rural Pending — 653 Jobs</a:t>
            </a:r>
            <a:endParaRPr lang="en-US" sz="9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645920"/>
          <a:ext cx="56692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46304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Graham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Jobs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Delay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Cool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 Days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Reason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ordered (133)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182880" y="3383280"/>
            <a:ext cx="566928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4" name="Text 10"/>
          <p:cNvSpPr/>
          <p:nvPr/>
        </p:nvSpPr>
        <p:spPr>
          <a:xfrm>
            <a:off x="182880" y="338328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Framework — Next Wave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274320" y="3657600"/>
            <a:ext cx="5486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Rank — Selecting new focus ASCs using impact scoring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Establish — Specific RTAT targets per ASC, monthly data reviews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Process — Standardize claim filing, share top-performer workflows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Amplify — Live dashboard tracking pending + RTAT weekly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Integrate — Cross-ASM collaboration on shared servicers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Redirect — Move jobs from non-improving ASCs to proven partners
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6309360" y="3383280"/>
            <a:ext cx="5669280" cy="228600"/>
          </a:xfrm>
          <a:prstGeom prst="rect">
            <a:avLst/>
          </a:prstGeom>
          <a:solidFill>
            <a:srgbClr val="008000"/>
          </a:solidFill>
          <a:ln/>
        </p:spPr>
      </p:sp>
      <p:sp>
        <p:nvSpPr>
          <p:cNvPr id="17" name="Text 13"/>
          <p:cNvSpPr/>
          <p:nvPr/>
        </p:nvSpPr>
        <p:spPr>
          <a:xfrm>
            <a:off x="6309360" y="3383280"/>
            <a:ext cx="5669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Targets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400800" y="3657600"/>
            <a:ext cx="5486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Urban: Sustain sub-10D through Q2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Engage 5 worsening Urban ASCs immediately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Reduce Urban pending avg from 10.6D to 8D
</a:t>
            </a:r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Rural: Reach 11D by end of Q2
</a:t>
            </a:r>
            <a:pPr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Intervene: Keisers (30.9D), Doctor Maintenance (37.0D)
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Reduce 30+ day Rural pending from 62 to under 30
</a:t>
            </a:r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Rural 10D target by Q3
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Rural RTAT — Improvement Story</dc:title>
  <dc:subject>PptxGenJS Presentation</dc:subject>
  <dc:creator>Daniel Crafton</dc:creator>
  <cp:lastModifiedBy>Daniel Crafton</cp:lastModifiedBy>
  <cp:revision>1</cp:revision>
  <dcterms:created xsi:type="dcterms:W3CDTF">2026-04-07T21:03:25Z</dcterms:created>
  <dcterms:modified xsi:type="dcterms:W3CDTF">2026-04-07T21:03:25Z</dcterms:modified>
</cp:coreProperties>
</file>