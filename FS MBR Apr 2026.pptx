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147475196" r:id="rId2"/>
    <p:sldId id="2147475218" r:id="rId3"/>
    <p:sldId id="2147475219" r:id="rId4"/>
    <p:sldId id="2147475220" r:id="rId5"/>
    <p:sldId id="2147475221" r:id="rId6"/>
    <p:sldId id="2147475222" r:id="rId7"/>
    <p:sldId id="2147475223" r:id="rId8"/>
    <p:sldId id="2147475224" r:id="rId9"/>
    <p:sldId id="2147475225" r:id="rId10"/>
    <p:sldId id="214747521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3E27A0-51E7-48D3-AA7D-C4739FEE6D7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04B1CE-0407-449E-B5E6-029408F26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381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F186D-5BDB-1DA4-6111-DC079D955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90885-C27C-4BC8-4EA4-D9A562B0E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1A95A-82A0-D098-7CEF-3855D1B6D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B04B7-0B09-DD51-D2D7-99DABFAF1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4607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87AD27-C3B2-466B-84D0-29FCE1B9D620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돋움체" pitchFamily="49" charset="-127"/>
                <a:cs typeface="+mn-cs"/>
              </a:rPr>
              <a:pPr marL="0" marR="0" lvl="0" indent="0" algn="r" defTabSz="924607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돋움체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0670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2870-3A4C-DAEF-9A0B-93966AB80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FDE560-2C3D-78D0-0410-62C745676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A1D4D-10F0-14CE-5F10-25A0F7FF9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591DB-B1E6-D76A-2181-9D120511A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4607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87AD27-C3B2-466B-84D0-29FCE1B9D620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돋움체" pitchFamily="49" charset="-127"/>
                <a:cs typeface="+mn-cs"/>
              </a:rPr>
              <a:pPr marL="0" marR="0" lvl="0" indent="0" algn="r" defTabSz="924607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돋움체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184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8CD5A-DC2E-2363-A16A-1E0B55B4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44E936-A4FC-B711-053C-698DCB388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924A12-0DC3-226E-094E-22A7D1C86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42780-2A74-01F5-BD6E-AB5AFCA97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4607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87AD27-C3B2-466B-84D0-29FCE1B9D620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돋움체" pitchFamily="49" charset="-127"/>
                <a:cs typeface="+mn-cs"/>
              </a:rPr>
              <a:pPr marL="0" marR="0" lvl="0" indent="0" algn="r" defTabSz="924607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돋움체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0346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47E20-CFA4-9F1D-2678-329D5AC90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D73B0-8CE3-E95E-4374-A2205E594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1D5AB5-6660-E3D6-100A-34982C263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64AC5-6F22-2F26-4C3D-2C3EBCBEE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4607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87AD27-C3B2-466B-84D0-29FCE1B9D620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돋움체" pitchFamily="49" charset="-127"/>
                <a:cs typeface="+mn-cs"/>
              </a:rPr>
              <a:pPr marL="0" marR="0" lvl="0" indent="0" algn="r" defTabSz="924607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돋움체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8673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AB499-D95E-6C12-3872-10917C45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435A4-4159-14F3-D7FE-9CF83F83E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2D219-258C-AB81-F35E-F31FC271C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0BE53-D655-1324-9989-EB018D022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4607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87AD27-C3B2-466B-84D0-29FCE1B9D620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돋움체" pitchFamily="49" charset="-127"/>
                <a:cs typeface="+mn-cs"/>
              </a:rPr>
              <a:pPr marL="0" marR="0" lvl="0" indent="0" algn="r" defTabSz="924607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돋움체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5244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C7F69-74F3-1AB4-63E5-3CFCFDD1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7177B-0E69-61CC-54F7-ADC39F800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89DE4-6AC0-3766-CD83-118640975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96296-311E-6001-4C3B-6E469C647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4607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87AD27-C3B2-466B-84D0-29FCE1B9D620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돋움체" pitchFamily="49" charset="-127"/>
                <a:cs typeface="+mn-cs"/>
              </a:rPr>
              <a:pPr marL="0" marR="0" lvl="0" indent="0" algn="r" defTabSz="924607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돋움체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3563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06206-6CC8-2233-557F-38732B4C1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736EE-A110-944D-D987-279738CC9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BA990-C927-D70D-C1AA-2BD84BFEA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325A2-A5FC-D773-6CB3-BCD08874C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4607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87AD27-C3B2-466B-84D0-29FCE1B9D620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돋움체" pitchFamily="49" charset="-127"/>
                <a:cs typeface="+mn-cs"/>
              </a:rPr>
              <a:pPr marL="0" marR="0" lvl="0" indent="0" algn="r" defTabSz="924607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돋움체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9386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3088-AFFE-1FDA-DE72-6E3A82AE2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D7CB2-0E0D-178A-1F45-C8B2F33F0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7D989-8378-E139-B378-1A097AD17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59F436-23C6-A4AF-F9E1-D179B1B8B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4607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87AD27-C3B2-466B-84D0-29FCE1B9D620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돋움체" pitchFamily="49" charset="-127"/>
                <a:cs typeface="+mn-cs"/>
              </a:rPr>
              <a:pPr marL="0" marR="0" lvl="0" indent="0" algn="r" defTabSz="924607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돋움체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2185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D473-051C-0C9B-6E96-61CB63336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FBC59-25BC-2657-A7DE-EB9C19F6B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D7C2A8-2E0C-C93B-8486-7180CB623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E1826-2C01-4B7A-6598-829EDBECE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4607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87AD27-C3B2-466B-84D0-29FCE1B9D620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돋움체" pitchFamily="49" charset="-127"/>
                <a:cs typeface="+mn-cs"/>
              </a:rPr>
              <a:pPr marL="0" marR="0" lvl="0" indent="0" algn="r" defTabSz="924607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돋움체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6957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81165-0F94-B7BD-BED8-1DC2CAA20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FAF73-09E8-4FB2-2932-9DE9AC3DC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561FE-8691-4441-6CDE-C9D36CB5C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0A6AA-C109-AA51-47C9-987AE5336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4607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87AD27-C3B2-466B-84D0-29FCE1B9D620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돋움체" pitchFamily="49" charset="-127"/>
                <a:cs typeface="+mn-cs"/>
              </a:rPr>
              <a:pPr marL="0" marR="0" lvl="0" indent="0" algn="r" defTabSz="924607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돋움체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4454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914423" y="2130472"/>
            <a:ext cx="10363200" cy="14700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67651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28800" y="3886200"/>
            <a:ext cx="8534401" cy="1752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Tx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723" smtClean="0"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4165623" y="6245225"/>
            <a:ext cx="3860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723" smtClean="0"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3538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878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138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F10AF7-4281-D296-90BF-5D6BDD05901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378450" y="63500"/>
            <a:ext cx="14668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55585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5416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5416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5416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5416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5416">
          <a:solidFill>
            <a:schemeClr val="tx2"/>
          </a:solidFill>
          <a:latin typeface="굴림" charset="-127"/>
          <a:ea typeface="굴림" charset="-127"/>
        </a:defRPr>
      </a:lvl5pPr>
      <a:lvl6pPr marL="562722" algn="ctr" rtl="0" fontAlgn="base" latinLnBrk="1">
        <a:spcBef>
          <a:spcPct val="0"/>
        </a:spcBef>
        <a:spcAft>
          <a:spcPct val="0"/>
        </a:spcAft>
        <a:defRPr kumimoji="1" sz="5416">
          <a:solidFill>
            <a:schemeClr val="tx2"/>
          </a:solidFill>
          <a:latin typeface="굴림" charset="-127"/>
          <a:ea typeface="굴림" charset="-127"/>
        </a:defRPr>
      </a:lvl6pPr>
      <a:lvl7pPr marL="1125444" algn="ctr" rtl="0" fontAlgn="base" latinLnBrk="1">
        <a:spcBef>
          <a:spcPct val="0"/>
        </a:spcBef>
        <a:spcAft>
          <a:spcPct val="0"/>
        </a:spcAft>
        <a:defRPr kumimoji="1" sz="5416">
          <a:solidFill>
            <a:schemeClr val="tx2"/>
          </a:solidFill>
          <a:latin typeface="굴림" charset="-127"/>
          <a:ea typeface="굴림" charset="-127"/>
        </a:defRPr>
      </a:lvl7pPr>
      <a:lvl8pPr marL="1688165" algn="ctr" rtl="0" fontAlgn="base" latinLnBrk="1">
        <a:spcBef>
          <a:spcPct val="0"/>
        </a:spcBef>
        <a:spcAft>
          <a:spcPct val="0"/>
        </a:spcAft>
        <a:defRPr kumimoji="1" sz="5416">
          <a:solidFill>
            <a:schemeClr val="tx2"/>
          </a:solidFill>
          <a:latin typeface="굴림" charset="-127"/>
          <a:ea typeface="굴림" charset="-127"/>
        </a:defRPr>
      </a:lvl8pPr>
      <a:lvl9pPr marL="2250887" algn="ctr" rtl="0" fontAlgn="base" latinLnBrk="1">
        <a:spcBef>
          <a:spcPct val="0"/>
        </a:spcBef>
        <a:spcAft>
          <a:spcPct val="0"/>
        </a:spcAft>
        <a:defRPr kumimoji="1" sz="5416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422041" indent="-422041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939">
          <a:solidFill>
            <a:schemeClr val="tx1"/>
          </a:solidFill>
          <a:latin typeface="+mn-lt"/>
          <a:ea typeface="+mn-ea"/>
          <a:cs typeface="+mn-cs"/>
        </a:defRPr>
      </a:lvl1pPr>
      <a:lvl2pPr marL="914423" indent="-351701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3446">
          <a:solidFill>
            <a:schemeClr val="tx1"/>
          </a:solidFill>
          <a:latin typeface="+mn-lt"/>
          <a:ea typeface="+mn-ea"/>
        </a:defRPr>
      </a:lvl2pPr>
      <a:lvl3pPr marL="1406804" indent="-281361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954">
          <a:solidFill>
            <a:schemeClr val="tx1"/>
          </a:solidFill>
          <a:latin typeface="+mn-lt"/>
          <a:ea typeface="+mn-ea"/>
        </a:defRPr>
      </a:lvl3pPr>
      <a:lvl4pPr marL="1969526" indent="-281361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462">
          <a:solidFill>
            <a:schemeClr val="tx1"/>
          </a:solidFill>
          <a:latin typeface="+mn-lt"/>
          <a:ea typeface="+mn-ea"/>
        </a:defRPr>
      </a:lvl4pPr>
      <a:lvl5pPr marL="2532248" indent="-281361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462">
          <a:solidFill>
            <a:schemeClr val="tx1"/>
          </a:solidFill>
          <a:latin typeface="+mn-lt"/>
          <a:ea typeface="+mn-ea"/>
        </a:defRPr>
      </a:lvl5pPr>
      <a:lvl6pPr marL="3094970" indent="-281361" algn="l" rtl="0" fontAlgn="base" latinLnBrk="1">
        <a:spcBef>
          <a:spcPct val="20000"/>
        </a:spcBef>
        <a:spcAft>
          <a:spcPct val="0"/>
        </a:spcAft>
        <a:buChar char="»"/>
        <a:defRPr kumimoji="1" sz="2462">
          <a:solidFill>
            <a:schemeClr val="tx1"/>
          </a:solidFill>
          <a:latin typeface="+mn-lt"/>
          <a:ea typeface="+mn-ea"/>
        </a:defRPr>
      </a:lvl6pPr>
      <a:lvl7pPr marL="3657691" indent="-281361" algn="l" rtl="0" fontAlgn="base" latinLnBrk="1">
        <a:spcBef>
          <a:spcPct val="20000"/>
        </a:spcBef>
        <a:spcAft>
          <a:spcPct val="0"/>
        </a:spcAft>
        <a:buChar char="»"/>
        <a:defRPr kumimoji="1" sz="2462">
          <a:solidFill>
            <a:schemeClr val="tx1"/>
          </a:solidFill>
          <a:latin typeface="+mn-lt"/>
          <a:ea typeface="+mn-ea"/>
        </a:defRPr>
      </a:lvl7pPr>
      <a:lvl8pPr marL="4220413" indent="-281361" algn="l" rtl="0" fontAlgn="base" latinLnBrk="1">
        <a:spcBef>
          <a:spcPct val="20000"/>
        </a:spcBef>
        <a:spcAft>
          <a:spcPct val="0"/>
        </a:spcAft>
        <a:buChar char="»"/>
        <a:defRPr kumimoji="1" sz="2462">
          <a:solidFill>
            <a:schemeClr val="tx1"/>
          </a:solidFill>
          <a:latin typeface="+mn-lt"/>
          <a:ea typeface="+mn-ea"/>
        </a:defRPr>
      </a:lvl8pPr>
      <a:lvl9pPr marL="4783135" indent="-281361" algn="l" rtl="0" fontAlgn="base" latinLnBrk="1">
        <a:spcBef>
          <a:spcPct val="20000"/>
        </a:spcBef>
        <a:spcAft>
          <a:spcPct val="0"/>
        </a:spcAft>
        <a:buChar char="»"/>
        <a:defRPr kumimoji="1" sz="2462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1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155A0CF-6F20-4939-2D31-86D6E208E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46">
            <a:extLst>
              <a:ext uri="{FF2B5EF4-FFF2-40B4-BE49-F238E27FC236}">
                <a16:creationId xmlns:a16="http://schemas.microsoft.com/office/drawing/2014/main" id="{AB0149A5-0A6D-A91C-2E16-56B56F9719A0}"/>
              </a:ext>
            </a:extLst>
          </p:cNvPr>
          <p:cNvGrpSpPr/>
          <p:nvPr/>
        </p:nvGrpSpPr>
        <p:grpSpPr>
          <a:xfrm>
            <a:off x="3512983" y="707685"/>
            <a:ext cx="3657600" cy="239077"/>
            <a:chOff x="232514" y="275033"/>
            <a:chExt cx="1857712" cy="202354"/>
          </a:xfrm>
        </p:grpSpPr>
        <p:sp>
          <p:nvSpPr>
            <p:cNvPr id="47" name="Text Box 41">
              <a:extLst>
                <a:ext uri="{FF2B5EF4-FFF2-40B4-BE49-F238E27FC236}">
                  <a16:creationId xmlns:a16="http://schemas.microsoft.com/office/drawing/2014/main" id="{88ED823B-5C05-1EF9-3681-D1B0975C67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75033"/>
              <a:ext cx="1422488" cy="182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March Review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1" name="직선 연결선 148">
              <a:extLst>
                <a:ext uri="{FF2B5EF4-FFF2-40B4-BE49-F238E27FC236}">
                  <a16:creationId xmlns:a16="http://schemas.microsoft.com/office/drawing/2014/main" id="{4ED26B37-12FC-437D-6D58-BB0B3F2F82A5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그룹 146">
            <a:extLst>
              <a:ext uri="{FF2B5EF4-FFF2-40B4-BE49-F238E27FC236}">
                <a16:creationId xmlns:a16="http://schemas.microsoft.com/office/drawing/2014/main" id="{7DB0E0E8-848A-1C70-3966-8C0582A6FAFA}"/>
              </a:ext>
            </a:extLst>
          </p:cNvPr>
          <p:cNvGrpSpPr/>
          <p:nvPr/>
        </p:nvGrpSpPr>
        <p:grpSpPr>
          <a:xfrm>
            <a:off x="7748381" y="707686"/>
            <a:ext cx="3657600" cy="240954"/>
            <a:chOff x="232514" y="236433"/>
            <a:chExt cx="1857712" cy="240954"/>
          </a:xfrm>
        </p:grpSpPr>
        <p:sp>
          <p:nvSpPr>
            <p:cNvPr id="53" name="Text Box 41">
              <a:extLst>
                <a:ext uri="{FF2B5EF4-FFF2-40B4-BE49-F238E27FC236}">
                  <a16:creationId xmlns:a16="http://schemas.microsoft.com/office/drawing/2014/main" id="{08F99EBD-1077-22E5-C05E-1B28A7E91D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072" y="236433"/>
              <a:ext cx="60063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/>
                  <a:ea typeface="LG스마트체 Regular"/>
                  <a:cs typeface="+mn-cs"/>
                </a:rPr>
                <a:t>April Strategy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4" name="직선 연결선 148">
              <a:extLst>
                <a:ext uri="{FF2B5EF4-FFF2-40B4-BE49-F238E27FC236}">
                  <a16:creationId xmlns:a16="http://schemas.microsoft.com/office/drawing/2014/main" id="{3FD39993-3E04-0708-71BB-80ADED203EA2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5" name="그룹 146">
            <a:extLst>
              <a:ext uri="{FF2B5EF4-FFF2-40B4-BE49-F238E27FC236}">
                <a16:creationId xmlns:a16="http://schemas.microsoft.com/office/drawing/2014/main" id="{EB9EB9A7-B5DC-EA7E-E2DA-390D293166E4}"/>
              </a:ext>
            </a:extLst>
          </p:cNvPr>
          <p:cNvGrpSpPr/>
          <p:nvPr/>
        </p:nvGrpSpPr>
        <p:grpSpPr>
          <a:xfrm>
            <a:off x="195594" y="707686"/>
            <a:ext cx="2816151" cy="232440"/>
            <a:chOff x="232514" y="232790"/>
            <a:chExt cx="1857712" cy="244597"/>
          </a:xfrm>
        </p:grpSpPr>
        <p:sp>
          <p:nvSpPr>
            <p:cNvPr id="56" name="Text Box 41">
              <a:extLst>
                <a:ext uri="{FF2B5EF4-FFF2-40B4-BE49-F238E27FC236}">
                  <a16:creationId xmlns:a16="http://schemas.microsoft.com/office/drawing/2014/main" id="{94EC41E5-A105-3B44-D0FF-C66AAB7B32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32790"/>
              <a:ext cx="1422488" cy="182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Performance</a:t>
              </a:r>
              <a:endPara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7" name="직선 연결선 148">
              <a:extLst>
                <a:ext uri="{FF2B5EF4-FFF2-40B4-BE49-F238E27FC236}">
                  <a16:creationId xmlns:a16="http://schemas.microsoft.com/office/drawing/2014/main" id="{4E89B54A-8D2B-1B01-280F-5E0C4444B602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428CB452-53E2-3639-C50B-AFA931C1CD19}"/>
              </a:ext>
            </a:extLst>
          </p:cNvPr>
          <p:cNvSpPr txBox="1"/>
          <p:nvPr/>
        </p:nvSpPr>
        <p:spPr>
          <a:xfrm>
            <a:off x="25876" y="947289"/>
            <a:ext cx="3657600" cy="28539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ko-KR" sz="1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Northeast</a:t>
            </a:r>
            <a:endParaRPr kumimoji="1" lang="ko-KR" altLang="en-US" sz="1600" b="1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DAD02531-CBB0-C398-0194-04F5086A4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36" y="76150"/>
            <a:ext cx="5617529" cy="404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09" tIns="47855" rIns="95709" bIns="47855">
            <a:spAutoFit/>
          </a:bodyPr>
          <a:lstStyle>
            <a:lvl1pPr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[Field Service] 3-Day RTAT Market Overview Northeast</a:t>
            </a:r>
            <a:endParaRPr kumimoji="1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3B1AA8A3-F9B8-F18B-CD6D-FDD91B7DC5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" y="548680"/>
            <a:ext cx="12192000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3" name="Action Button: Home 4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33729E5-2CBF-5BE0-732F-3BE530E781AA}"/>
              </a:ext>
            </a:extLst>
          </p:cNvPr>
          <p:cNvSpPr/>
          <p:nvPr/>
        </p:nvSpPr>
        <p:spPr>
          <a:xfrm>
            <a:off x="11639377" y="217917"/>
            <a:ext cx="261389" cy="261847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34" charset="-127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D8D4F1-63CA-C25C-1713-5865701F1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264403"/>
              </p:ext>
            </p:extLst>
          </p:nvPr>
        </p:nvGraphicFramePr>
        <p:xfrm>
          <a:off x="212669" y="1338366"/>
          <a:ext cx="2749987" cy="341013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7131">
                  <a:extLst>
                    <a:ext uri="{9D8B030D-6E8A-4147-A177-3AD203B41FA5}">
                      <a16:colId xmlns:a16="http://schemas.microsoft.com/office/drawing/2014/main" val="1690677086"/>
                    </a:ext>
                  </a:extLst>
                </a:gridCol>
                <a:gridCol w="891216">
                  <a:extLst>
                    <a:ext uri="{9D8B030D-6E8A-4147-A177-3AD203B41FA5}">
                      <a16:colId xmlns:a16="http://schemas.microsoft.com/office/drawing/2014/main" val="25739653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3985056151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1507356414"/>
                    </a:ext>
                  </a:extLst>
                </a:gridCol>
                <a:gridCol w="393192">
                  <a:extLst>
                    <a:ext uri="{9D8B030D-6E8A-4147-A177-3AD203B41FA5}">
                      <a16:colId xmlns:a16="http://schemas.microsoft.com/office/drawing/2014/main" val="4057890726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2395540459"/>
                    </a:ext>
                  </a:extLst>
                </a:gridCol>
              </a:tblGrid>
              <a:tr h="161003">
                <a:tc rowSpan="2"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u="none" strike="noStrike">
                          <a:effectLst/>
                          <a:latin typeface="Arial Narrow"/>
                        </a:rPr>
                        <a:t> Dept KPI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Performance</a:t>
                      </a: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084320"/>
                  </a:ext>
                </a:extLst>
              </a:tr>
              <a:tr h="277331">
                <a:tc gridSpan="2" vMerge="1">
                  <a:txBody>
                    <a:bodyPr/>
                    <a:lstStyle/>
                    <a:p>
                      <a:pPr algn="l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‘25 Mar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Jan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Feb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Mar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924916"/>
                  </a:ext>
                </a:extLst>
              </a:tr>
              <a:tr h="226335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u="none" strike="noStrike">
                          <a:effectLst/>
                          <a:latin typeface="Arial Narrow"/>
                        </a:rPr>
                        <a:t>RTAT (Days)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75867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New Jersey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166483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331504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 dirty="0">
                          <a:effectLst/>
                          <a:latin typeface="Arial Narrow"/>
                        </a:rPr>
                        <a:t>ETN</a:t>
                      </a:r>
                      <a:endParaRPr lang="en-US" sz="900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13.1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9.8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38082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North New Jersey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5.8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93512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3.8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209062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7.0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165115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Philadelphia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5.5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58285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278375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5851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Washington DC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5.5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39288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154227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7.8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770703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51BE03C8-A1FE-415B-8D79-5E37F3C3781F}"/>
              </a:ext>
            </a:extLst>
          </p:cNvPr>
          <p:cNvSpPr txBox="1"/>
          <p:nvPr/>
        </p:nvSpPr>
        <p:spPr>
          <a:xfrm>
            <a:off x="3481143" y="3583842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EF14B4-34FD-DFFA-C7E2-FCB610411736}"/>
              </a:ext>
            </a:extLst>
          </p:cNvPr>
          <p:cNvSpPr txBox="1"/>
          <p:nvPr/>
        </p:nvSpPr>
        <p:spPr>
          <a:xfrm>
            <a:off x="3647529" y="1462679"/>
            <a:ext cx="3745896" cy="45044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B804DB-30D0-9013-586F-461C2D830028}"/>
              </a:ext>
            </a:extLst>
          </p:cNvPr>
          <p:cNvSpPr txBox="1"/>
          <p:nvPr/>
        </p:nvSpPr>
        <p:spPr>
          <a:xfrm>
            <a:off x="3481144" y="1233628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6F9FF2-9916-261A-0D18-A71EEED3A6E3}"/>
              </a:ext>
            </a:extLst>
          </p:cNvPr>
          <p:cNvSpPr txBox="1"/>
          <p:nvPr/>
        </p:nvSpPr>
        <p:spPr>
          <a:xfrm>
            <a:off x="3644280" y="3821745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6A6EB4-D5AD-0B87-14E7-39CADF78C8A8}"/>
              </a:ext>
            </a:extLst>
          </p:cNvPr>
          <p:cNvSpPr txBox="1"/>
          <p:nvPr/>
        </p:nvSpPr>
        <p:spPr>
          <a:xfrm>
            <a:off x="3683652" y="4254276"/>
            <a:ext cx="2944399" cy="16158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3BD49C-FB1C-48BD-1B06-6273703B823D}"/>
              </a:ext>
            </a:extLst>
          </p:cNvPr>
          <p:cNvSpPr txBox="1"/>
          <p:nvPr/>
        </p:nvSpPr>
        <p:spPr>
          <a:xfrm>
            <a:off x="8044212" y="1438704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CBC3AA-0679-4EB9-4BBF-CD9CD73817B9}"/>
              </a:ext>
            </a:extLst>
          </p:cNvPr>
          <p:cNvSpPr txBox="1"/>
          <p:nvPr/>
        </p:nvSpPr>
        <p:spPr>
          <a:xfrm>
            <a:off x="8029496" y="3861785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CA5E2A-2A20-A84E-A031-CE2D39FB7759}"/>
              </a:ext>
            </a:extLst>
          </p:cNvPr>
          <p:cNvSpPr txBox="1"/>
          <p:nvPr/>
        </p:nvSpPr>
        <p:spPr>
          <a:xfrm>
            <a:off x="7763294" y="3584584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75A472-55C6-F9C6-E1DE-1ADB11D655F8}"/>
              </a:ext>
            </a:extLst>
          </p:cNvPr>
          <p:cNvSpPr txBox="1"/>
          <p:nvPr/>
        </p:nvSpPr>
        <p:spPr>
          <a:xfrm>
            <a:off x="7763294" y="1183340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5561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C15D00-C273-EF31-55ED-1B60A6325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46">
            <a:extLst>
              <a:ext uri="{FF2B5EF4-FFF2-40B4-BE49-F238E27FC236}">
                <a16:creationId xmlns:a16="http://schemas.microsoft.com/office/drawing/2014/main" id="{508B3BF1-A7F5-97A0-ECC5-2FA3A1FB536D}"/>
              </a:ext>
            </a:extLst>
          </p:cNvPr>
          <p:cNvGrpSpPr/>
          <p:nvPr/>
        </p:nvGrpSpPr>
        <p:grpSpPr>
          <a:xfrm>
            <a:off x="3512983" y="707685"/>
            <a:ext cx="3657600" cy="239077"/>
            <a:chOff x="232514" y="275033"/>
            <a:chExt cx="1857712" cy="202354"/>
          </a:xfrm>
        </p:grpSpPr>
        <p:sp>
          <p:nvSpPr>
            <p:cNvPr id="47" name="Text Box 41">
              <a:extLst>
                <a:ext uri="{FF2B5EF4-FFF2-40B4-BE49-F238E27FC236}">
                  <a16:creationId xmlns:a16="http://schemas.microsoft.com/office/drawing/2014/main" id="{983C4451-B913-5F1F-1B4C-368499F37F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75033"/>
              <a:ext cx="1422488" cy="182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March Review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1" name="직선 연결선 148">
              <a:extLst>
                <a:ext uri="{FF2B5EF4-FFF2-40B4-BE49-F238E27FC236}">
                  <a16:creationId xmlns:a16="http://schemas.microsoft.com/office/drawing/2014/main" id="{9DF13C9F-C5FB-D35C-749C-9F792A5228AD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그룹 146">
            <a:extLst>
              <a:ext uri="{FF2B5EF4-FFF2-40B4-BE49-F238E27FC236}">
                <a16:creationId xmlns:a16="http://schemas.microsoft.com/office/drawing/2014/main" id="{3772DF28-22FE-EC68-6609-705A0377E33C}"/>
              </a:ext>
            </a:extLst>
          </p:cNvPr>
          <p:cNvGrpSpPr/>
          <p:nvPr/>
        </p:nvGrpSpPr>
        <p:grpSpPr>
          <a:xfrm>
            <a:off x="7748381" y="707686"/>
            <a:ext cx="3657600" cy="240954"/>
            <a:chOff x="232514" y="236433"/>
            <a:chExt cx="1857712" cy="240954"/>
          </a:xfrm>
        </p:grpSpPr>
        <p:sp>
          <p:nvSpPr>
            <p:cNvPr id="53" name="Text Box 41">
              <a:extLst>
                <a:ext uri="{FF2B5EF4-FFF2-40B4-BE49-F238E27FC236}">
                  <a16:creationId xmlns:a16="http://schemas.microsoft.com/office/drawing/2014/main" id="{1BD5DA7D-88EC-ED17-6E04-2811E0BEC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072" y="236433"/>
              <a:ext cx="60063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/>
                  <a:ea typeface="LG스마트체 Regular"/>
                  <a:cs typeface="+mn-cs"/>
                </a:rPr>
                <a:t>April Strategy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4" name="직선 연결선 148">
              <a:extLst>
                <a:ext uri="{FF2B5EF4-FFF2-40B4-BE49-F238E27FC236}">
                  <a16:creationId xmlns:a16="http://schemas.microsoft.com/office/drawing/2014/main" id="{63E59E8D-4B38-954F-3C16-7672E7F0814E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5" name="그룹 146">
            <a:extLst>
              <a:ext uri="{FF2B5EF4-FFF2-40B4-BE49-F238E27FC236}">
                <a16:creationId xmlns:a16="http://schemas.microsoft.com/office/drawing/2014/main" id="{C591BAC1-0F13-ACF0-BFCD-327EE56455D4}"/>
              </a:ext>
            </a:extLst>
          </p:cNvPr>
          <p:cNvGrpSpPr/>
          <p:nvPr/>
        </p:nvGrpSpPr>
        <p:grpSpPr>
          <a:xfrm>
            <a:off x="195594" y="707686"/>
            <a:ext cx="2816151" cy="232440"/>
            <a:chOff x="232514" y="232790"/>
            <a:chExt cx="1857712" cy="244597"/>
          </a:xfrm>
        </p:grpSpPr>
        <p:sp>
          <p:nvSpPr>
            <p:cNvPr id="56" name="Text Box 41">
              <a:extLst>
                <a:ext uri="{FF2B5EF4-FFF2-40B4-BE49-F238E27FC236}">
                  <a16:creationId xmlns:a16="http://schemas.microsoft.com/office/drawing/2014/main" id="{215722A2-985D-5AD3-9B6B-029757F13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32790"/>
              <a:ext cx="1422488" cy="182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Performance</a:t>
              </a:r>
              <a:endPara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7" name="직선 연결선 148">
              <a:extLst>
                <a:ext uri="{FF2B5EF4-FFF2-40B4-BE49-F238E27FC236}">
                  <a16:creationId xmlns:a16="http://schemas.microsoft.com/office/drawing/2014/main" id="{1CA27F3B-2E80-1957-3B30-6BCCB4DF851B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" name="Text Box 3">
            <a:extLst>
              <a:ext uri="{FF2B5EF4-FFF2-40B4-BE49-F238E27FC236}">
                <a16:creationId xmlns:a16="http://schemas.microsoft.com/office/drawing/2014/main" id="{754F06D7-91EB-6D99-0766-DC84D4393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36" y="76150"/>
            <a:ext cx="5617529" cy="404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09" tIns="47855" rIns="95709" bIns="47855">
            <a:spAutoFit/>
          </a:bodyPr>
          <a:lstStyle>
            <a:lvl1pPr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[Field Service] 3-Day RTAT Market Overview Northeast</a:t>
            </a:r>
            <a:endParaRPr kumimoji="1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6EF7B996-9B62-A0EA-461B-77150C9EF5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" y="548680"/>
            <a:ext cx="12192000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3" name="Action Button: Home 4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DF61411-2660-3E90-1787-BE115E62CDEB}"/>
              </a:ext>
            </a:extLst>
          </p:cNvPr>
          <p:cNvSpPr/>
          <p:nvPr/>
        </p:nvSpPr>
        <p:spPr>
          <a:xfrm>
            <a:off x="11639377" y="217917"/>
            <a:ext cx="261389" cy="261847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34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7017EE-F798-E8F8-7607-E384EA849B7E}"/>
              </a:ext>
            </a:extLst>
          </p:cNvPr>
          <p:cNvSpPr txBox="1"/>
          <p:nvPr/>
        </p:nvSpPr>
        <p:spPr>
          <a:xfrm>
            <a:off x="41260" y="985265"/>
            <a:ext cx="3745896" cy="28539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ko-KR" sz="1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Top 30 Market Update</a:t>
            </a:r>
            <a:endParaRPr kumimoji="1" lang="ko-KR" altLang="en-US" sz="1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BE91DB1-672D-D88E-50AF-A6040F8041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204141"/>
              </p:ext>
            </p:extLst>
          </p:nvPr>
        </p:nvGraphicFramePr>
        <p:xfrm>
          <a:off x="301308" y="4430059"/>
          <a:ext cx="7088868" cy="1485900"/>
        </p:xfrm>
        <a:graphic>
          <a:graphicData uri="http://schemas.openxmlformats.org/drawingml/2006/table">
            <a:tbl>
              <a:tblPr/>
              <a:tblGrid>
                <a:gridCol w="1346136">
                  <a:extLst>
                    <a:ext uri="{9D8B030D-6E8A-4147-A177-3AD203B41FA5}">
                      <a16:colId xmlns:a16="http://schemas.microsoft.com/office/drawing/2014/main" val="3296279871"/>
                    </a:ext>
                  </a:extLst>
                </a:gridCol>
                <a:gridCol w="1176094">
                  <a:extLst>
                    <a:ext uri="{9D8B030D-6E8A-4147-A177-3AD203B41FA5}">
                      <a16:colId xmlns:a16="http://schemas.microsoft.com/office/drawing/2014/main" val="1687209995"/>
                    </a:ext>
                  </a:extLst>
                </a:gridCol>
                <a:gridCol w="1739318">
                  <a:extLst>
                    <a:ext uri="{9D8B030D-6E8A-4147-A177-3AD203B41FA5}">
                      <a16:colId xmlns:a16="http://schemas.microsoft.com/office/drawing/2014/main" val="327636133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4068824699"/>
                    </a:ext>
                  </a:extLst>
                </a:gridCol>
                <a:gridCol w="1547160">
                  <a:extLst>
                    <a:ext uri="{9D8B030D-6E8A-4147-A177-3AD203B41FA5}">
                      <a16:colId xmlns:a16="http://schemas.microsoft.com/office/drawing/2014/main" val="130417128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Metro Market "A" List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DMST Headcount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ETN Company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ETN Current Headcount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ETN Final Headcount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9827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Boston, MA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2749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Detroit, MI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0421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Cleveland, OH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00553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21269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88121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13775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90E298B-EC7E-DF27-05FF-91EEB2EB19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43327"/>
              </p:ext>
            </p:extLst>
          </p:nvPr>
        </p:nvGraphicFramePr>
        <p:xfrm>
          <a:off x="306530" y="1370666"/>
          <a:ext cx="2749987" cy="272433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7131">
                  <a:extLst>
                    <a:ext uri="{9D8B030D-6E8A-4147-A177-3AD203B41FA5}">
                      <a16:colId xmlns:a16="http://schemas.microsoft.com/office/drawing/2014/main" val="1690677086"/>
                    </a:ext>
                  </a:extLst>
                </a:gridCol>
                <a:gridCol w="891216">
                  <a:extLst>
                    <a:ext uri="{9D8B030D-6E8A-4147-A177-3AD203B41FA5}">
                      <a16:colId xmlns:a16="http://schemas.microsoft.com/office/drawing/2014/main" val="25739653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3985056151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1507356414"/>
                    </a:ext>
                  </a:extLst>
                </a:gridCol>
                <a:gridCol w="393192">
                  <a:extLst>
                    <a:ext uri="{9D8B030D-6E8A-4147-A177-3AD203B41FA5}">
                      <a16:colId xmlns:a16="http://schemas.microsoft.com/office/drawing/2014/main" val="4057890726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2395540459"/>
                    </a:ext>
                  </a:extLst>
                </a:gridCol>
              </a:tblGrid>
              <a:tr h="161003">
                <a:tc rowSpan="2"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u="none" strike="noStrike">
                          <a:effectLst/>
                          <a:latin typeface="Arial Narrow"/>
                        </a:rPr>
                        <a:t> Dept KPI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Performance</a:t>
                      </a: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084320"/>
                  </a:ext>
                </a:extLst>
              </a:tr>
              <a:tr h="277331">
                <a:tc gridSpan="2" vMerge="1">
                  <a:txBody>
                    <a:bodyPr/>
                    <a:lstStyle/>
                    <a:p>
                      <a:pPr algn="l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‘25 Mar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Jan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Feb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Mar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924916"/>
                  </a:ext>
                </a:extLst>
              </a:tr>
              <a:tr h="226335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u="none" strike="noStrike">
                          <a:effectLst/>
                          <a:latin typeface="Arial Narrow"/>
                        </a:rPr>
                        <a:t>RTAT (Days)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75867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Boston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166483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4.5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331504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 dirty="0">
                          <a:effectLst/>
                          <a:latin typeface="Arial Narrow"/>
                        </a:rPr>
                        <a:t>ETN</a:t>
                      </a:r>
                      <a:endParaRPr lang="en-US" sz="900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13.1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9.8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38082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Detroit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5.8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93512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3.8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209062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7.0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5.6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165115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Cleveland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5.5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58285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4.0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278375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6.5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7.8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5851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7413302-132F-A3AC-B4B5-0355E8F12082}"/>
              </a:ext>
            </a:extLst>
          </p:cNvPr>
          <p:cNvSpPr txBox="1"/>
          <p:nvPr/>
        </p:nvSpPr>
        <p:spPr>
          <a:xfrm>
            <a:off x="3481143" y="2751738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C96C09-4861-7DB4-80E4-0047FCFB8EA3}"/>
              </a:ext>
            </a:extLst>
          </p:cNvPr>
          <p:cNvSpPr txBox="1"/>
          <p:nvPr/>
        </p:nvSpPr>
        <p:spPr>
          <a:xfrm>
            <a:off x="3647529" y="1462679"/>
            <a:ext cx="3745896" cy="45044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611076-93F5-6FF7-97AF-B1D12BF721F9}"/>
              </a:ext>
            </a:extLst>
          </p:cNvPr>
          <p:cNvSpPr txBox="1"/>
          <p:nvPr/>
        </p:nvSpPr>
        <p:spPr>
          <a:xfrm>
            <a:off x="3481144" y="1233628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043695-FBAD-0BAD-4052-738E8B010B33}"/>
              </a:ext>
            </a:extLst>
          </p:cNvPr>
          <p:cNvSpPr txBox="1"/>
          <p:nvPr/>
        </p:nvSpPr>
        <p:spPr>
          <a:xfrm>
            <a:off x="3644280" y="2989641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DB6A06-E0AA-D70D-D3A3-A47CA1B51D47}"/>
              </a:ext>
            </a:extLst>
          </p:cNvPr>
          <p:cNvSpPr txBox="1"/>
          <p:nvPr/>
        </p:nvSpPr>
        <p:spPr>
          <a:xfrm>
            <a:off x="3683652" y="3422172"/>
            <a:ext cx="2944399" cy="16158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693498-9AD9-588D-A664-0FDBE738A840}"/>
              </a:ext>
            </a:extLst>
          </p:cNvPr>
          <p:cNvSpPr txBox="1"/>
          <p:nvPr/>
        </p:nvSpPr>
        <p:spPr>
          <a:xfrm>
            <a:off x="8044212" y="1438704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E6B31-E4DD-2971-CD02-DB953A591178}"/>
              </a:ext>
            </a:extLst>
          </p:cNvPr>
          <p:cNvSpPr txBox="1"/>
          <p:nvPr/>
        </p:nvSpPr>
        <p:spPr>
          <a:xfrm>
            <a:off x="8029496" y="3029681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274970-74F6-5BEE-C953-D15AA446F77D}"/>
              </a:ext>
            </a:extLst>
          </p:cNvPr>
          <p:cNvSpPr txBox="1"/>
          <p:nvPr/>
        </p:nvSpPr>
        <p:spPr>
          <a:xfrm>
            <a:off x="7763294" y="2752480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E564EB-E9D5-1B84-C69F-DC6BE69A916E}"/>
              </a:ext>
            </a:extLst>
          </p:cNvPr>
          <p:cNvSpPr txBox="1"/>
          <p:nvPr/>
        </p:nvSpPr>
        <p:spPr>
          <a:xfrm>
            <a:off x="7763294" y="1183340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A55B29-27BD-8918-7AD1-D3FFC1A49D60}"/>
              </a:ext>
            </a:extLst>
          </p:cNvPr>
          <p:cNvSpPr txBox="1"/>
          <p:nvPr/>
        </p:nvSpPr>
        <p:spPr>
          <a:xfrm>
            <a:off x="8029496" y="4704023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93F573-74EF-BA16-FFAB-A137CCAD449B}"/>
              </a:ext>
            </a:extLst>
          </p:cNvPr>
          <p:cNvSpPr txBox="1"/>
          <p:nvPr/>
        </p:nvSpPr>
        <p:spPr>
          <a:xfrm>
            <a:off x="7763294" y="4426822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100% Branded Coverage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1712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A71626-AFFE-30FC-D19D-9E28400B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46">
            <a:extLst>
              <a:ext uri="{FF2B5EF4-FFF2-40B4-BE49-F238E27FC236}">
                <a16:creationId xmlns:a16="http://schemas.microsoft.com/office/drawing/2014/main" id="{6BB68A1D-537E-C0EE-F0D6-FFD17888F839}"/>
              </a:ext>
            </a:extLst>
          </p:cNvPr>
          <p:cNvGrpSpPr/>
          <p:nvPr/>
        </p:nvGrpSpPr>
        <p:grpSpPr>
          <a:xfrm>
            <a:off x="3512983" y="707685"/>
            <a:ext cx="3657600" cy="239077"/>
            <a:chOff x="232514" y="275033"/>
            <a:chExt cx="1857712" cy="202354"/>
          </a:xfrm>
        </p:grpSpPr>
        <p:sp>
          <p:nvSpPr>
            <p:cNvPr id="47" name="Text Box 41">
              <a:extLst>
                <a:ext uri="{FF2B5EF4-FFF2-40B4-BE49-F238E27FC236}">
                  <a16:creationId xmlns:a16="http://schemas.microsoft.com/office/drawing/2014/main" id="{E0EB044E-03BE-C1E8-20A4-3E47804C1E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75033"/>
              <a:ext cx="1422488" cy="182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March Review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1" name="직선 연결선 148">
              <a:extLst>
                <a:ext uri="{FF2B5EF4-FFF2-40B4-BE49-F238E27FC236}">
                  <a16:creationId xmlns:a16="http://schemas.microsoft.com/office/drawing/2014/main" id="{C278DFB0-1F74-F169-5676-FFDB8D111B8A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그룹 146">
            <a:extLst>
              <a:ext uri="{FF2B5EF4-FFF2-40B4-BE49-F238E27FC236}">
                <a16:creationId xmlns:a16="http://schemas.microsoft.com/office/drawing/2014/main" id="{8FED43B3-853E-9812-1ABD-47A63DDCDED1}"/>
              </a:ext>
            </a:extLst>
          </p:cNvPr>
          <p:cNvGrpSpPr/>
          <p:nvPr/>
        </p:nvGrpSpPr>
        <p:grpSpPr>
          <a:xfrm>
            <a:off x="7748381" y="707686"/>
            <a:ext cx="3657600" cy="240954"/>
            <a:chOff x="232514" y="236433"/>
            <a:chExt cx="1857712" cy="240954"/>
          </a:xfrm>
        </p:grpSpPr>
        <p:sp>
          <p:nvSpPr>
            <p:cNvPr id="53" name="Text Box 41">
              <a:extLst>
                <a:ext uri="{FF2B5EF4-FFF2-40B4-BE49-F238E27FC236}">
                  <a16:creationId xmlns:a16="http://schemas.microsoft.com/office/drawing/2014/main" id="{8E625E9C-93BA-43D6-0A91-782292420E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072" y="236433"/>
              <a:ext cx="60063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/>
                  <a:ea typeface="LG스마트체 Regular"/>
                  <a:cs typeface="+mn-cs"/>
                </a:rPr>
                <a:t>April Strategy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4" name="직선 연결선 148">
              <a:extLst>
                <a:ext uri="{FF2B5EF4-FFF2-40B4-BE49-F238E27FC236}">
                  <a16:creationId xmlns:a16="http://schemas.microsoft.com/office/drawing/2014/main" id="{ECD22599-ADEC-033B-3FCC-02E85BDFCA3C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5" name="그룹 146">
            <a:extLst>
              <a:ext uri="{FF2B5EF4-FFF2-40B4-BE49-F238E27FC236}">
                <a16:creationId xmlns:a16="http://schemas.microsoft.com/office/drawing/2014/main" id="{0F7BDB68-9FDE-E208-33DA-C48634265EA5}"/>
              </a:ext>
            </a:extLst>
          </p:cNvPr>
          <p:cNvGrpSpPr/>
          <p:nvPr/>
        </p:nvGrpSpPr>
        <p:grpSpPr>
          <a:xfrm>
            <a:off x="195594" y="707686"/>
            <a:ext cx="2816151" cy="232440"/>
            <a:chOff x="232514" y="232790"/>
            <a:chExt cx="1857712" cy="244597"/>
          </a:xfrm>
        </p:grpSpPr>
        <p:sp>
          <p:nvSpPr>
            <p:cNvPr id="56" name="Text Box 41">
              <a:extLst>
                <a:ext uri="{FF2B5EF4-FFF2-40B4-BE49-F238E27FC236}">
                  <a16:creationId xmlns:a16="http://schemas.microsoft.com/office/drawing/2014/main" id="{BD8EA40A-026F-A007-4D62-2C11CED12B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32790"/>
              <a:ext cx="1422488" cy="182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Performance</a:t>
              </a:r>
              <a:endPara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7" name="직선 연결선 148">
              <a:extLst>
                <a:ext uri="{FF2B5EF4-FFF2-40B4-BE49-F238E27FC236}">
                  <a16:creationId xmlns:a16="http://schemas.microsoft.com/office/drawing/2014/main" id="{4C7BAE53-ADD6-01F9-1ADB-65F90ADCD530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016BAFCE-E625-9C5E-64D8-9585E80FB7A9}"/>
              </a:ext>
            </a:extLst>
          </p:cNvPr>
          <p:cNvSpPr txBox="1"/>
          <p:nvPr/>
        </p:nvSpPr>
        <p:spPr>
          <a:xfrm>
            <a:off x="25876" y="947289"/>
            <a:ext cx="3657600" cy="28539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ko-KR" sz="1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Southeast</a:t>
            </a:r>
            <a:endParaRPr kumimoji="1" lang="ko-KR" altLang="en-US" sz="1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93F2120A-3300-C4A6-A830-DCF9FC906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36" y="76150"/>
            <a:ext cx="5652795" cy="404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09" tIns="47855" rIns="95709" bIns="47855">
            <a:spAutoFit/>
          </a:bodyPr>
          <a:lstStyle>
            <a:lvl1pPr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[Field Service] 3-Day RTAT Market Overview Southeast</a:t>
            </a:r>
            <a:endParaRPr kumimoji="1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86A558F8-ADDB-4F90-57A3-C4D563F183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" y="548680"/>
            <a:ext cx="12192000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3" name="Action Button: Home 4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30139E4-0E5A-4F5E-F563-8C089CD77312}"/>
              </a:ext>
            </a:extLst>
          </p:cNvPr>
          <p:cNvSpPr/>
          <p:nvPr/>
        </p:nvSpPr>
        <p:spPr>
          <a:xfrm>
            <a:off x="11639377" y="217917"/>
            <a:ext cx="261389" cy="261847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34" charset="-127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36832F-5FF5-673F-0932-DD3276177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469005"/>
              </p:ext>
            </p:extLst>
          </p:nvPr>
        </p:nvGraphicFramePr>
        <p:xfrm>
          <a:off x="212669" y="1338366"/>
          <a:ext cx="2749987" cy="203853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7131">
                  <a:extLst>
                    <a:ext uri="{9D8B030D-6E8A-4147-A177-3AD203B41FA5}">
                      <a16:colId xmlns:a16="http://schemas.microsoft.com/office/drawing/2014/main" val="1690677086"/>
                    </a:ext>
                  </a:extLst>
                </a:gridCol>
                <a:gridCol w="891216">
                  <a:extLst>
                    <a:ext uri="{9D8B030D-6E8A-4147-A177-3AD203B41FA5}">
                      <a16:colId xmlns:a16="http://schemas.microsoft.com/office/drawing/2014/main" val="25739653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3985056151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1507356414"/>
                    </a:ext>
                  </a:extLst>
                </a:gridCol>
                <a:gridCol w="393192">
                  <a:extLst>
                    <a:ext uri="{9D8B030D-6E8A-4147-A177-3AD203B41FA5}">
                      <a16:colId xmlns:a16="http://schemas.microsoft.com/office/drawing/2014/main" val="4057890726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2395540459"/>
                    </a:ext>
                  </a:extLst>
                </a:gridCol>
              </a:tblGrid>
              <a:tr h="161003">
                <a:tc rowSpan="2"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u="none" strike="noStrike">
                          <a:effectLst/>
                          <a:latin typeface="Arial Narrow"/>
                        </a:rPr>
                        <a:t> Dept KPI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Performance</a:t>
                      </a: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084320"/>
                  </a:ext>
                </a:extLst>
              </a:tr>
              <a:tr h="277331">
                <a:tc gridSpan="2" vMerge="1">
                  <a:txBody>
                    <a:bodyPr/>
                    <a:lstStyle/>
                    <a:p>
                      <a:pPr algn="l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‘25 Mar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Jan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Feb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Mar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924916"/>
                  </a:ext>
                </a:extLst>
              </a:tr>
              <a:tr h="226335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u="none" strike="noStrike">
                          <a:effectLst/>
                          <a:latin typeface="Arial Narrow"/>
                        </a:rPr>
                        <a:t>RTAT (Days)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75867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Atlanta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166483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331504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 dirty="0">
                          <a:effectLst/>
                          <a:latin typeface="Arial Narrow"/>
                        </a:rPr>
                        <a:t>ETN</a:t>
                      </a:r>
                      <a:endParaRPr lang="en-US" sz="900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13.1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9.8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38082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Tampa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5.8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93512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3.8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209062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7.0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5.6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16511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E1AD101-C0D5-9D4E-1AB3-1A550BF29CFA}"/>
              </a:ext>
            </a:extLst>
          </p:cNvPr>
          <p:cNvSpPr txBox="1"/>
          <p:nvPr/>
        </p:nvSpPr>
        <p:spPr>
          <a:xfrm>
            <a:off x="3481143" y="3583842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4CE542-F864-C254-7700-4F0A7908C282}"/>
              </a:ext>
            </a:extLst>
          </p:cNvPr>
          <p:cNvSpPr txBox="1"/>
          <p:nvPr/>
        </p:nvSpPr>
        <p:spPr>
          <a:xfrm>
            <a:off x="3647529" y="1462679"/>
            <a:ext cx="3745896" cy="45044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84D48-C272-F676-ED12-1069057D702B}"/>
              </a:ext>
            </a:extLst>
          </p:cNvPr>
          <p:cNvSpPr txBox="1"/>
          <p:nvPr/>
        </p:nvSpPr>
        <p:spPr>
          <a:xfrm>
            <a:off x="3481144" y="1233628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05491B-0962-AF34-9F55-BA15B92F3C78}"/>
              </a:ext>
            </a:extLst>
          </p:cNvPr>
          <p:cNvSpPr txBox="1"/>
          <p:nvPr/>
        </p:nvSpPr>
        <p:spPr>
          <a:xfrm>
            <a:off x="3644280" y="3821745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748EED-3C68-7642-4519-A6072B549AC1}"/>
              </a:ext>
            </a:extLst>
          </p:cNvPr>
          <p:cNvSpPr txBox="1"/>
          <p:nvPr/>
        </p:nvSpPr>
        <p:spPr>
          <a:xfrm>
            <a:off x="3683652" y="4254276"/>
            <a:ext cx="2944399" cy="16158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3205E-D3D7-7044-CBE5-211BF8DED9FD}"/>
              </a:ext>
            </a:extLst>
          </p:cNvPr>
          <p:cNvSpPr txBox="1"/>
          <p:nvPr/>
        </p:nvSpPr>
        <p:spPr>
          <a:xfrm>
            <a:off x="8044212" y="1438704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2D6B1C-AB38-745D-3EE2-9B9F502A84BC}"/>
              </a:ext>
            </a:extLst>
          </p:cNvPr>
          <p:cNvSpPr txBox="1"/>
          <p:nvPr/>
        </p:nvSpPr>
        <p:spPr>
          <a:xfrm>
            <a:off x="8029496" y="3861785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545FBB-1B59-CDDE-5F85-09157F172423}"/>
              </a:ext>
            </a:extLst>
          </p:cNvPr>
          <p:cNvSpPr txBox="1"/>
          <p:nvPr/>
        </p:nvSpPr>
        <p:spPr>
          <a:xfrm>
            <a:off x="7763294" y="3584584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69420B-D1D2-7E2D-F8C8-C84F99E7427E}"/>
              </a:ext>
            </a:extLst>
          </p:cNvPr>
          <p:cNvSpPr txBox="1"/>
          <p:nvPr/>
        </p:nvSpPr>
        <p:spPr>
          <a:xfrm>
            <a:off x="7763294" y="1183340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713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739265-A204-D4CF-F921-F0046C6BD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46">
            <a:extLst>
              <a:ext uri="{FF2B5EF4-FFF2-40B4-BE49-F238E27FC236}">
                <a16:creationId xmlns:a16="http://schemas.microsoft.com/office/drawing/2014/main" id="{5608E1CB-BDB5-3AA1-4E03-D3689FB79AD1}"/>
              </a:ext>
            </a:extLst>
          </p:cNvPr>
          <p:cNvGrpSpPr/>
          <p:nvPr/>
        </p:nvGrpSpPr>
        <p:grpSpPr>
          <a:xfrm>
            <a:off x="3512983" y="707685"/>
            <a:ext cx="3657600" cy="239077"/>
            <a:chOff x="232514" y="275033"/>
            <a:chExt cx="1857712" cy="202354"/>
          </a:xfrm>
        </p:grpSpPr>
        <p:sp>
          <p:nvSpPr>
            <p:cNvPr id="47" name="Text Box 41">
              <a:extLst>
                <a:ext uri="{FF2B5EF4-FFF2-40B4-BE49-F238E27FC236}">
                  <a16:creationId xmlns:a16="http://schemas.microsoft.com/office/drawing/2014/main" id="{F6495F6C-E917-7927-C25F-11445DC1B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75033"/>
              <a:ext cx="1422488" cy="182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March Review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1" name="직선 연결선 148">
              <a:extLst>
                <a:ext uri="{FF2B5EF4-FFF2-40B4-BE49-F238E27FC236}">
                  <a16:creationId xmlns:a16="http://schemas.microsoft.com/office/drawing/2014/main" id="{F5A01FD6-3245-D4F3-FD92-8AABECB7824B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그룹 146">
            <a:extLst>
              <a:ext uri="{FF2B5EF4-FFF2-40B4-BE49-F238E27FC236}">
                <a16:creationId xmlns:a16="http://schemas.microsoft.com/office/drawing/2014/main" id="{4CCC644D-9AD9-225D-DE81-FCD4CD19B205}"/>
              </a:ext>
            </a:extLst>
          </p:cNvPr>
          <p:cNvGrpSpPr/>
          <p:nvPr/>
        </p:nvGrpSpPr>
        <p:grpSpPr>
          <a:xfrm>
            <a:off x="7748381" y="707686"/>
            <a:ext cx="3657600" cy="240954"/>
            <a:chOff x="232514" y="236433"/>
            <a:chExt cx="1857712" cy="240954"/>
          </a:xfrm>
        </p:grpSpPr>
        <p:sp>
          <p:nvSpPr>
            <p:cNvPr id="53" name="Text Box 41">
              <a:extLst>
                <a:ext uri="{FF2B5EF4-FFF2-40B4-BE49-F238E27FC236}">
                  <a16:creationId xmlns:a16="http://schemas.microsoft.com/office/drawing/2014/main" id="{1E568431-E329-2F9E-51CB-3309D8602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072" y="236433"/>
              <a:ext cx="60063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/>
                  <a:ea typeface="LG스마트체 Regular"/>
                  <a:cs typeface="+mn-cs"/>
                </a:rPr>
                <a:t>April Strategy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4" name="직선 연결선 148">
              <a:extLst>
                <a:ext uri="{FF2B5EF4-FFF2-40B4-BE49-F238E27FC236}">
                  <a16:creationId xmlns:a16="http://schemas.microsoft.com/office/drawing/2014/main" id="{446ADD57-E594-9EB8-36F0-F92E17F5065F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5" name="그룹 146">
            <a:extLst>
              <a:ext uri="{FF2B5EF4-FFF2-40B4-BE49-F238E27FC236}">
                <a16:creationId xmlns:a16="http://schemas.microsoft.com/office/drawing/2014/main" id="{B5761CC6-B461-A4AD-7925-0C2B21533C6A}"/>
              </a:ext>
            </a:extLst>
          </p:cNvPr>
          <p:cNvGrpSpPr/>
          <p:nvPr/>
        </p:nvGrpSpPr>
        <p:grpSpPr>
          <a:xfrm>
            <a:off x="195594" y="707686"/>
            <a:ext cx="2816151" cy="232440"/>
            <a:chOff x="232514" y="232790"/>
            <a:chExt cx="1857712" cy="244597"/>
          </a:xfrm>
        </p:grpSpPr>
        <p:sp>
          <p:nvSpPr>
            <p:cNvPr id="56" name="Text Box 41">
              <a:extLst>
                <a:ext uri="{FF2B5EF4-FFF2-40B4-BE49-F238E27FC236}">
                  <a16:creationId xmlns:a16="http://schemas.microsoft.com/office/drawing/2014/main" id="{57AB2416-C91C-E11D-41E0-220BA1762E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32790"/>
              <a:ext cx="1422488" cy="182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Performance</a:t>
              </a:r>
              <a:endPara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7" name="직선 연결선 148">
              <a:extLst>
                <a:ext uri="{FF2B5EF4-FFF2-40B4-BE49-F238E27FC236}">
                  <a16:creationId xmlns:a16="http://schemas.microsoft.com/office/drawing/2014/main" id="{5280B684-3F5B-AF11-2401-A74C21D87E05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" name="Text Box 3">
            <a:extLst>
              <a:ext uri="{FF2B5EF4-FFF2-40B4-BE49-F238E27FC236}">
                <a16:creationId xmlns:a16="http://schemas.microsoft.com/office/drawing/2014/main" id="{F49B5D4B-3790-FC73-7994-40155BA5D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36" y="76150"/>
            <a:ext cx="5652795" cy="404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09" tIns="47855" rIns="95709" bIns="47855">
            <a:spAutoFit/>
          </a:bodyPr>
          <a:lstStyle>
            <a:lvl1pPr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[Field Service] 3-Day RTAT Market Overview Southeast</a:t>
            </a:r>
            <a:endParaRPr kumimoji="1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5301768C-66CC-4F09-D239-C7CB929864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" y="548680"/>
            <a:ext cx="12192000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3" name="Action Button: Home 4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DB138C1-84F7-A7E8-2520-689476842EFE}"/>
              </a:ext>
            </a:extLst>
          </p:cNvPr>
          <p:cNvSpPr/>
          <p:nvPr/>
        </p:nvSpPr>
        <p:spPr>
          <a:xfrm>
            <a:off x="11639377" y="217917"/>
            <a:ext cx="261389" cy="261847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34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FD9555-2EB7-D385-C1B6-1442A8750240}"/>
              </a:ext>
            </a:extLst>
          </p:cNvPr>
          <p:cNvSpPr txBox="1"/>
          <p:nvPr/>
        </p:nvSpPr>
        <p:spPr>
          <a:xfrm>
            <a:off x="41260" y="985265"/>
            <a:ext cx="3745896" cy="28539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ko-KR" sz="1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Top 30 Market Update</a:t>
            </a:r>
            <a:endParaRPr kumimoji="1" lang="ko-KR" altLang="en-US" sz="1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2368D77-F87C-7C31-72A0-40D0D2F7D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280015"/>
              </p:ext>
            </p:extLst>
          </p:nvPr>
        </p:nvGraphicFramePr>
        <p:xfrm>
          <a:off x="301308" y="5056632"/>
          <a:ext cx="7088868" cy="1490263"/>
        </p:xfrm>
        <a:graphic>
          <a:graphicData uri="http://schemas.openxmlformats.org/drawingml/2006/table">
            <a:tbl>
              <a:tblPr/>
              <a:tblGrid>
                <a:gridCol w="1346136">
                  <a:extLst>
                    <a:ext uri="{9D8B030D-6E8A-4147-A177-3AD203B41FA5}">
                      <a16:colId xmlns:a16="http://schemas.microsoft.com/office/drawing/2014/main" val="3296279871"/>
                    </a:ext>
                  </a:extLst>
                </a:gridCol>
                <a:gridCol w="1176094">
                  <a:extLst>
                    <a:ext uri="{9D8B030D-6E8A-4147-A177-3AD203B41FA5}">
                      <a16:colId xmlns:a16="http://schemas.microsoft.com/office/drawing/2014/main" val="1687209995"/>
                    </a:ext>
                  </a:extLst>
                </a:gridCol>
                <a:gridCol w="1739318">
                  <a:extLst>
                    <a:ext uri="{9D8B030D-6E8A-4147-A177-3AD203B41FA5}">
                      <a16:colId xmlns:a16="http://schemas.microsoft.com/office/drawing/2014/main" val="327636133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4068824699"/>
                    </a:ext>
                  </a:extLst>
                </a:gridCol>
                <a:gridCol w="1547160">
                  <a:extLst>
                    <a:ext uri="{9D8B030D-6E8A-4147-A177-3AD203B41FA5}">
                      <a16:colId xmlns:a16="http://schemas.microsoft.com/office/drawing/2014/main" val="130417128"/>
                    </a:ext>
                  </a:extLst>
                </a:gridCol>
              </a:tblGrid>
              <a:tr h="22343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Metro Market "A" List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DMST Headcount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ETN Company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ETN Current Headcount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ETN Final Headcount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9827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Miami, FL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2749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Orlando, FL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0421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Charlotte, NC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00553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Tequesta Beach, FL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21269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11685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13775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9A1D136-72C3-2EF3-A32A-25610B80A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27705"/>
              </p:ext>
            </p:extLst>
          </p:nvPr>
        </p:nvGraphicFramePr>
        <p:xfrm>
          <a:off x="306530" y="1370666"/>
          <a:ext cx="2749987" cy="341013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7131">
                  <a:extLst>
                    <a:ext uri="{9D8B030D-6E8A-4147-A177-3AD203B41FA5}">
                      <a16:colId xmlns:a16="http://schemas.microsoft.com/office/drawing/2014/main" val="1690677086"/>
                    </a:ext>
                  </a:extLst>
                </a:gridCol>
                <a:gridCol w="891216">
                  <a:extLst>
                    <a:ext uri="{9D8B030D-6E8A-4147-A177-3AD203B41FA5}">
                      <a16:colId xmlns:a16="http://schemas.microsoft.com/office/drawing/2014/main" val="25739653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3985056151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1507356414"/>
                    </a:ext>
                  </a:extLst>
                </a:gridCol>
                <a:gridCol w="393192">
                  <a:extLst>
                    <a:ext uri="{9D8B030D-6E8A-4147-A177-3AD203B41FA5}">
                      <a16:colId xmlns:a16="http://schemas.microsoft.com/office/drawing/2014/main" val="4057890726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2395540459"/>
                    </a:ext>
                  </a:extLst>
                </a:gridCol>
              </a:tblGrid>
              <a:tr h="161003">
                <a:tc rowSpan="2"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u="none" strike="noStrike">
                          <a:effectLst/>
                          <a:latin typeface="Arial Narrow"/>
                        </a:rPr>
                        <a:t> Dept KPI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Performance</a:t>
                      </a: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084320"/>
                  </a:ext>
                </a:extLst>
              </a:tr>
              <a:tr h="277331">
                <a:tc gridSpan="2" vMerge="1">
                  <a:txBody>
                    <a:bodyPr/>
                    <a:lstStyle/>
                    <a:p>
                      <a:pPr algn="l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‘25 Mar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Jan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Feb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Mar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924916"/>
                  </a:ext>
                </a:extLst>
              </a:tr>
              <a:tr h="226335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u="none" strike="noStrike">
                          <a:effectLst/>
                          <a:latin typeface="Arial Narrow"/>
                        </a:rPr>
                        <a:t>RTAT (Days)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75867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Miami, FL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166483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4.5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331504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 dirty="0">
                          <a:effectLst/>
                          <a:latin typeface="Arial Narrow"/>
                        </a:rPr>
                        <a:t>ETN</a:t>
                      </a:r>
                      <a:endParaRPr lang="en-US" sz="900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13.1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9.8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38082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Orlando, FL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5.8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93512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3.8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209062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7.0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5.6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165115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Charlotte, NC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5.5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58285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4.0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278375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6.5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7.8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5851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Tequesta Bch, FL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5.5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171929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4.0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7502076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6.5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7.8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51172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76F5E8-A5DB-FE8E-9E2F-2DA3EF57314C}"/>
              </a:ext>
            </a:extLst>
          </p:cNvPr>
          <p:cNvSpPr txBox="1"/>
          <p:nvPr/>
        </p:nvSpPr>
        <p:spPr>
          <a:xfrm>
            <a:off x="3481143" y="2751738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086CB-7124-C508-031C-BB94E022E6BA}"/>
              </a:ext>
            </a:extLst>
          </p:cNvPr>
          <p:cNvSpPr txBox="1"/>
          <p:nvPr/>
        </p:nvSpPr>
        <p:spPr>
          <a:xfrm>
            <a:off x="3647529" y="1462679"/>
            <a:ext cx="3745896" cy="45044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32B599-CCAA-1A16-80A0-B38D6DBCA1AD}"/>
              </a:ext>
            </a:extLst>
          </p:cNvPr>
          <p:cNvSpPr txBox="1"/>
          <p:nvPr/>
        </p:nvSpPr>
        <p:spPr>
          <a:xfrm>
            <a:off x="3481144" y="1233628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DC10A1-4B05-8978-E193-14EFC23AE70C}"/>
              </a:ext>
            </a:extLst>
          </p:cNvPr>
          <p:cNvSpPr txBox="1"/>
          <p:nvPr/>
        </p:nvSpPr>
        <p:spPr>
          <a:xfrm>
            <a:off x="3644280" y="2989641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F2EA3F-5138-037C-5BDB-38A0AD95429C}"/>
              </a:ext>
            </a:extLst>
          </p:cNvPr>
          <p:cNvSpPr txBox="1"/>
          <p:nvPr/>
        </p:nvSpPr>
        <p:spPr>
          <a:xfrm>
            <a:off x="3683652" y="3422172"/>
            <a:ext cx="2944399" cy="16158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A32891-D797-959E-B84A-D0DF3ED01D00}"/>
              </a:ext>
            </a:extLst>
          </p:cNvPr>
          <p:cNvSpPr txBox="1"/>
          <p:nvPr/>
        </p:nvSpPr>
        <p:spPr>
          <a:xfrm>
            <a:off x="8044212" y="1438704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5324D6-F720-33FC-024F-989AA69C7A92}"/>
              </a:ext>
            </a:extLst>
          </p:cNvPr>
          <p:cNvSpPr txBox="1"/>
          <p:nvPr/>
        </p:nvSpPr>
        <p:spPr>
          <a:xfrm>
            <a:off x="8029496" y="3029681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56B0AA-C2DF-12B5-ECDC-AFB0277E057E}"/>
              </a:ext>
            </a:extLst>
          </p:cNvPr>
          <p:cNvSpPr txBox="1"/>
          <p:nvPr/>
        </p:nvSpPr>
        <p:spPr>
          <a:xfrm>
            <a:off x="7763294" y="2752480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59830B-55D9-A522-6B30-CEAACFC69CEA}"/>
              </a:ext>
            </a:extLst>
          </p:cNvPr>
          <p:cNvSpPr txBox="1"/>
          <p:nvPr/>
        </p:nvSpPr>
        <p:spPr>
          <a:xfrm>
            <a:off x="7763294" y="1183340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FC4F9B-17D0-204E-DFC0-5ADB1A750966}"/>
              </a:ext>
            </a:extLst>
          </p:cNvPr>
          <p:cNvSpPr txBox="1"/>
          <p:nvPr/>
        </p:nvSpPr>
        <p:spPr>
          <a:xfrm>
            <a:off x="8029496" y="5334959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702E47-9F6B-BCBD-C4D7-54D5C2A93035}"/>
              </a:ext>
            </a:extLst>
          </p:cNvPr>
          <p:cNvSpPr txBox="1"/>
          <p:nvPr/>
        </p:nvSpPr>
        <p:spPr>
          <a:xfrm>
            <a:off x="7763294" y="5057758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100% Branded Coverage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587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891DA8-DDEA-0565-B894-353D7870A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46">
            <a:extLst>
              <a:ext uri="{FF2B5EF4-FFF2-40B4-BE49-F238E27FC236}">
                <a16:creationId xmlns:a16="http://schemas.microsoft.com/office/drawing/2014/main" id="{4E13C823-39A6-B1DA-FD73-EAAAAE6F1636}"/>
              </a:ext>
            </a:extLst>
          </p:cNvPr>
          <p:cNvGrpSpPr/>
          <p:nvPr/>
        </p:nvGrpSpPr>
        <p:grpSpPr>
          <a:xfrm>
            <a:off x="3512983" y="707685"/>
            <a:ext cx="3657600" cy="239077"/>
            <a:chOff x="232514" y="275033"/>
            <a:chExt cx="1857712" cy="202354"/>
          </a:xfrm>
        </p:grpSpPr>
        <p:sp>
          <p:nvSpPr>
            <p:cNvPr id="47" name="Text Box 41">
              <a:extLst>
                <a:ext uri="{FF2B5EF4-FFF2-40B4-BE49-F238E27FC236}">
                  <a16:creationId xmlns:a16="http://schemas.microsoft.com/office/drawing/2014/main" id="{285EB9C0-57C1-046D-C4C9-1C7E77DF62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75033"/>
              <a:ext cx="1422488" cy="182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March Review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1" name="직선 연결선 148">
              <a:extLst>
                <a:ext uri="{FF2B5EF4-FFF2-40B4-BE49-F238E27FC236}">
                  <a16:creationId xmlns:a16="http://schemas.microsoft.com/office/drawing/2014/main" id="{30AEBB1C-8068-2B7E-82A8-D6F42061B233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그룹 146">
            <a:extLst>
              <a:ext uri="{FF2B5EF4-FFF2-40B4-BE49-F238E27FC236}">
                <a16:creationId xmlns:a16="http://schemas.microsoft.com/office/drawing/2014/main" id="{2F3CA274-CF8E-D1AE-3F77-CC9D31CCA70B}"/>
              </a:ext>
            </a:extLst>
          </p:cNvPr>
          <p:cNvGrpSpPr/>
          <p:nvPr/>
        </p:nvGrpSpPr>
        <p:grpSpPr>
          <a:xfrm>
            <a:off x="7748381" y="707686"/>
            <a:ext cx="3657600" cy="240954"/>
            <a:chOff x="232514" y="236433"/>
            <a:chExt cx="1857712" cy="240954"/>
          </a:xfrm>
        </p:grpSpPr>
        <p:sp>
          <p:nvSpPr>
            <p:cNvPr id="53" name="Text Box 41">
              <a:extLst>
                <a:ext uri="{FF2B5EF4-FFF2-40B4-BE49-F238E27FC236}">
                  <a16:creationId xmlns:a16="http://schemas.microsoft.com/office/drawing/2014/main" id="{626733B7-0344-6507-D853-267B60CA07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072" y="236433"/>
              <a:ext cx="60063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/>
                  <a:ea typeface="LG스마트체 Regular"/>
                  <a:cs typeface="+mn-cs"/>
                </a:rPr>
                <a:t>April Strategy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4" name="직선 연결선 148">
              <a:extLst>
                <a:ext uri="{FF2B5EF4-FFF2-40B4-BE49-F238E27FC236}">
                  <a16:creationId xmlns:a16="http://schemas.microsoft.com/office/drawing/2014/main" id="{48569EBE-8D33-BBE1-2FC6-E57FAF205B4D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5" name="그룹 146">
            <a:extLst>
              <a:ext uri="{FF2B5EF4-FFF2-40B4-BE49-F238E27FC236}">
                <a16:creationId xmlns:a16="http://schemas.microsoft.com/office/drawing/2014/main" id="{48DF9704-36A3-34CA-6F22-D54B355FF8E2}"/>
              </a:ext>
            </a:extLst>
          </p:cNvPr>
          <p:cNvGrpSpPr/>
          <p:nvPr/>
        </p:nvGrpSpPr>
        <p:grpSpPr>
          <a:xfrm>
            <a:off x="195594" y="707686"/>
            <a:ext cx="2816151" cy="232440"/>
            <a:chOff x="232514" y="232790"/>
            <a:chExt cx="1857712" cy="244597"/>
          </a:xfrm>
        </p:grpSpPr>
        <p:sp>
          <p:nvSpPr>
            <p:cNvPr id="56" name="Text Box 41">
              <a:extLst>
                <a:ext uri="{FF2B5EF4-FFF2-40B4-BE49-F238E27FC236}">
                  <a16:creationId xmlns:a16="http://schemas.microsoft.com/office/drawing/2014/main" id="{E11A1ED8-B7B4-1673-DE45-97A3D9A154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32790"/>
              <a:ext cx="1422488" cy="182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Performance</a:t>
              </a:r>
              <a:endPara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7" name="직선 연결선 148">
              <a:extLst>
                <a:ext uri="{FF2B5EF4-FFF2-40B4-BE49-F238E27FC236}">
                  <a16:creationId xmlns:a16="http://schemas.microsoft.com/office/drawing/2014/main" id="{85FB4119-D14F-E6A4-7E2C-D50554C0802C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B1B7AD7C-8BF9-D8ED-83E7-1E2B0A438867}"/>
              </a:ext>
            </a:extLst>
          </p:cNvPr>
          <p:cNvSpPr txBox="1"/>
          <p:nvPr/>
        </p:nvSpPr>
        <p:spPr>
          <a:xfrm>
            <a:off x="25876" y="947289"/>
            <a:ext cx="3657600" cy="28539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ko-KR" sz="1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Central</a:t>
            </a:r>
            <a:endParaRPr kumimoji="1" lang="ko-KR" altLang="en-US" sz="1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C1F3F7D7-356C-4FAA-45FC-92A259F94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36" y="76150"/>
            <a:ext cx="5359445" cy="404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09" tIns="47855" rIns="95709" bIns="47855">
            <a:spAutoFit/>
          </a:bodyPr>
          <a:lstStyle>
            <a:lvl1pPr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[Field Service] 3-Day RTAT Market Overview Central</a:t>
            </a:r>
            <a:endParaRPr kumimoji="1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015909AF-3750-7106-E0A7-5AA463B80B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" y="548680"/>
            <a:ext cx="12192000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3" name="Action Button: Home 4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ACACEDB-D438-1F12-F40C-34F7E4F1DDC4}"/>
              </a:ext>
            </a:extLst>
          </p:cNvPr>
          <p:cNvSpPr/>
          <p:nvPr/>
        </p:nvSpPr>
        <p:spPr>
          <a:xfrm>
            <a:off x="11639377" y="217917"/>
            <a:ext cx="261389" cy="261847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34" charset="-127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721672-7949-168F-9B44-31BED966C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088225"/>
              </p:ext>
            </p:extLst>
          </p:nvPr>
        </p:nvGraphicFramePr>
        <p:xfrm>
          <a:off x="212669" y="1338366"/>
          <a:ext cx="2749987" cy="135273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7131">
                  <a:extLst>
                    <a:ext uri="{9D8B030D-6E8A-4147-A177-3AD203B41FA5}">
                      <a16:colId xmlns:a16="http://schemas.microsoft.com/office/drawing/2014/main" val="1690677086"/>
                    </a:ext>
                  </a:extLst>
                </a:gridCol>
                <a:gridCol w="891216">
                  <a:extLst>
                    <a:ext uri="{9D8B030D-6E8A-4147-A177-3AD203B41FA5}">
                      <a16:colId xmlns:a16="http://schemas.microsoft.com/office/drawing/2014/main" val="25739653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3985056151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1507356414"/>
                    </a:ext>
                  </a:extLst>
                </a:gridCol>
                <a:gridCol w="393192">
                  <a:extLst>
                    <a:ext uri="{9D8B030D-6E8A-4147-A177-3AD203B41FA5}">
                      <a16:colId xmlns:a16="http://schemas.microsoft.com/office/drawing/2014/main" val="4057890726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2395540459"/>
                    </a:ext>
                  </a:extLst>
                </a:gridCol>
              </a:tblGrid>
              <a:tr h="161003">
                <a:tc rowSpan="2"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u="none" strike="noStrike">
                          <a:effectLst/>
                          <a:latin typeface="Arial Narrow"/>
                        </a:rPr>
                        <a:t> Dept KPI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Performance</a:t>
                      </a: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084320"/>
                  </a:ext>
                </a:extLst>
              </a:tr>
              <a:tr h="277331">
                <a:tc gridSpan="2" vMerge="1">
                  <a:txBody>
                    <a:bodyPr/>
                    <a:lstStyle/>
                    <a:p>
                      <a:pPr algn="l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‘25 Mar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Jan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Feb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Mar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924916"/>
                  </a:ext>
                </a:extLst>
              </a:tr>
              <a:tr h="226335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u="none" strike="noStrike">
                          <a:effectLst/>
                          <a:latin typeface="Arial Narrow"/>
                        </a:rPr>
                        <a:t>RTAT (Days)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75867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Dallas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166483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331504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 dirty="0">
                          <a:effectLst/>
                          <a:latin typeface="Arial Narrow"/>
                        </a:rPr>
                        <a:t>ETN</a:t>
                      </a:r>
                      <a:endParaRPr lang="en-US" sz="900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13.1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9.8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38082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35D50DD-3120-1191-7BAE-9A4C9146A9F9}"/>
              </a:ext>
            </a:extLst>
          </p:cNvPr>
          <p:cNvSpPr txBox="1"/>
          <p:nvPr/>
        </p:nvSpPr>
        <p:spPr>
          <a:xfrm>
            <a:off x="3481143" y="3583842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F44D06-81FB-609C-23E2-F66F158A2D72}"/>
              </a:ext>
            </a:extLst>
          </p:cNvPr>
          <p:cNvSpPr txBox="1"/>
          <p:nvPr/>
        </p:nvSpPr>
        <p:spPr>
          <a:xfrm>
            <a:off x="3647529" y="1462679"/>
            <a:ext cx="3745896" cy="45044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9D7362-0EEE-8F93-081F-1536D6BDFA02}"/>
              </a:ext>
            </a:extLst>
          </p:cNvPr>
          <p:cNvSpPr txBox="1"/>
          <p:nvPr/>
        </p:nvSpPr>
        <p:spPr>
          <a:xfrm>
            <a:off x="3481144" y="1233628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D67FC7-C330-BA7E-2928-3D2DAF82DE39}"/>
              </a:ext>
            </a:extLst>
          </p:cNvPr>
          <p:cNvSpPr txBox="1"/>
          <p:nvPr/>
        </p:nvSpPr>
        <p:spPr>
          <a:xfrm>
            <a:off x="3644280" y="3821745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2531C8-F3D3-57DF-68FC-44ED2C3680AC}"/>
              </a:ext>
            </a:extLst>
          </p:cNvPr>
          <p:cNvSpPr txBox="1"/>
          <p:nvPr/>
        </p:nvSpPr>
        <p:spPr>
          <a:xfrm>
            <a:off x="3683652" y="4254276"/>
            <a:ext cx="2944399" cy="16158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06C5AC-E945-7B5A-8D6E-3841DF044DDB}"/>
              </a:ext>
            </a:extLst>
          </p:cNvPr>
          <p:cNvSpPr txBox="1"/>
          <p:nvPr/>
        </p:nvSpPr>
        <p:spPr>
          <a:xfrm>
            <a:off x="8044212" y="1438704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190C7-CB75-B276-5B2C-B4F47B3BAFB2}"/>
              </a:ext>
            </a:extLst>
          </p:cNvPr>
          <p:cNvSpPr txBox="1"/>
          <p:nvPr/>
        </p:nvSpPr>
        <p:spPr>
          <a:xfrm>
            <a:off x="8029496" y="3861785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9A890B-CF5B-FD9B-E054-5AD17D201E80}"/>
              </a:ext>
            </a:extLst>
          </p:cNvPr>
          <p:cNvSpPr txBox="1"/>
          <p:nvPr/>
        </p:nvSpPr>
        <p:spPr>
          <a:xfrm>
            <a:off x="7763294" y="3584584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6826D9-213A-5B58-E483-65B58E303D01}"/>
              </a:ext>
            </a:extLst>
          </p:cNvPr>
          <p:cNvSpPr txBox="1"/>
          <p:nvPr/>
        </p:nvSpPr>
        <p:spPr>
          <a:xfrm>
            <a:off x="7763294" y="1183340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4904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DBB45B6-597F-2851-BCE7-346250867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46">
            <a:extLst>
              <a:ext uri="{FF2B5EF4-FFF2-40B4-BE49-F238E27FC236}">
                <a16:creationId xmlns:a16="http://schemas.microsoft.com/office/drawing/2014/main" id="{60E7530C-75F9-6C04-0F69-A02077699672}"/>
              </a:ext>
            </a:extLst>
          </p:cNvPr>
          <p:cNvGrpSpPr/>
          <p:nvPr/>
        </p:nvGrpSpPr>
        <p:grpSpPr>
          <a:xfrm>
            <a:off x="3512983" y="707685"/>
            <a:ext cx="3657600" cy="239077"/>
            <a:chOff x="232514" y="275033"/>
            <a:chExt cx="1857712" cy="202354"/>
          </a:xfrm>
        </p:grpSpPr>
        <p:sp>
          <p:nvSpPr>
            <p:cNvPr id="47" name="Text Box 41">
              <a:extLst>
                <a:ext uri="{FF2B5EF4-FFF2-40B4-BE49-F238E27FC236}">
                  <a16:creationId xmlns:a16="http://schemas.microsoft.com/office/drawing/2014/main" id="{5873C3CB-2008-5A52-F52A-22B40EA3FC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75033"/>
              <a:ext cx="1422488" cy="182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March Review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1" name="직선 연결선 148">
              <a:extLst>
                <a:ext uri="{FF2B5EF4-FFF2-40B4-BE49-F238E27FC236}">
                  <a16:creationId xmlns:a16="http://schemas.microsoft.com/office/drawing/2014/main" id="{0ADA23CF-79F1-6EDE-0C6D-31C068CBB248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그룹 146">
            <a:extLst>
              <a:ext uri="{FF2B5EF4-FFF2-40B4-BE49-F238E27FC236}">
                <a16:creationId xmlns:a16="http://schemas.microsoft.com/office/drawing/2014/main" id="{7220B07F-9C40-E2F0-B672-5635A7C4E51E}"/>
              </a:ext>
            </a:extLst>
          </p:cNvPr>
          <p:cNvGrpSpPr/>
          <p:nvPr/>
        </p:nvGrpSpPr>
        <p:grpSpPr>
          <a:xfrm>
            <a:off x="7748381" y="707686"/>
            <a:ext cx="3657600" cy="240954"/>
            <a:chOff x="232514" y="236433"/>
            <a:chExt cx="1857712" cy="240954"/>
          </a:xfrm>
        </p:grpSpPr>
        <p:sp>
          <p:nvSpPr>
            <p:cNvPr id="53" name="Text Box 41">
              <a:extLst>
                <a:ext uri="{FF2B5EF4-FFF2-40B4-BE49-F238E27FC236}">
                  <a16:creationId xmlns:a16="http://schemas.microsoft.com/office/drawing/2014/main" id="{AE474DF6-1689-AB49-5465-D1A2076AF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072" y="236433"/>
              <a:ext cx="60063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/>
                  <a:ea typeface="LG스마트체 Regular"/>
                  <a:cs typeface="+mn-cs"/>
                </a:rPr>
                <a:t>April Strategy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4" name="직선 연결선 148">
              <a:extLst>
                <a:ext uri="{FF2B5EF4-FFF2-40B4-BE49-F238E27FC236}">
                  <a16:creationId xmlns:a16="http://schemas.microsoft.com/office/drawing/2014/main" id="{EC5FA7BA-07C2-4038-4F4D-8C7D63F35F81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5" name="그룹 146">
            <a:extLst>
              <a:ext uri="{FF2B5EF4-FFF2-40B4-BE49-F238E27FC236}">
                <a16:creationId xmlns:a16="http://schemas.microsoft.com/office/drawing/2014/main" id="{F626A795-ADD1-AB16-80C3-C7280DA25302}"/>
              </a:ext>
            </a:extLst>
          </p:cNvPr>
          <p:cNvGrpSpPr/>
          <p:nvPr/>
        </p:nvGrpSpPr>
        <p:grpSpPr>
          <a:xfrm>
            <a:off x="195594" y="707686"/>
            <a:ext cx="2816151" cy="232440"/>
            <a:chOff x="232514" y="232790"/>
            <a:chExt cx="1857712" cy="244597"/>
          </a:xfrm>
        </p:grpSpPr>
        <p:sp>
          <p:nvSpPr>
            <p:cNvPr id="56" name="Text Box 41">
              <a:extLst>
                <a:ext uri="{FF2B5EF4-FFF2-40B4-BE49-F238E27FC236}">
                  <a16:creationId xmlns:a16="http://schemas.microsoft.com/office/drawing/2014/main" id="{2F3903D6-E49C-3FAC-894D-9473835E9A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32790"/>
              <a:ext cx="1422488" cy="182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Performance</a:t>
              </a:r>
              <a:endPara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7" name="직선 연결선 148">
              <a:extLst>
                <a:ext uri="{FF2B5EF4-FFF2-40B4-BE49-F238E27FC236}">
                  <a16:creationId xmlns:a16="http://schemas.microsoft.com/office/drawing/2014/main" id="{A1F22E5D-8E9A-9D3A-D63B-0257506DB8D7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" name="Text Box 3">
            <a:extLst>
              <a:ext uri="{FF2B5EF4-FFF2-40B4-BE49-F238E27FC236}">
                <a16:creationId xmlns:a16="http://schemas.microsoft.com/office/drawing/2014/main" id="{1FCC501F-84AD-B700-002D-36275C6E4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36" y="76150"/>
            <a:ext cx="5359445" cy="404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09" tIns="47855" rIns="95709" bIns="47855">
            <a:spAutoFit/>
          </a:bodyPr>
          <a:lstStyle>
            <a:lvl1pPr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[Field Service] 3-Day RTAT Market Overview Central</a:t>
            </a:r>
            <a:endParaRPr kumimoji="1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A1332DB4-C861-8CAD-DE42-75AF19304D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" y="548680"/>
            <a:ext cx="12192000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3" name="Action Button: Home 4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31D382A-E76D-6E41-CCCB-CEA39757D60C}"/>
              </a:ext>
            </a:extLst>
          </p:cNvPr>
          <p:cNvSpPr/>
          <p:nvPr/>
        </p:nvSpPr>
        <p:spPr>
          <a:xfrm>
            <a:off x="11639377" y="217917"/>
            <a:ext cx="261389" cy="261847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34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A7C9A1-6573-9852-B64D-10E32695E0F7}"/>
              </a:ext>
            </a:extLst>
          </p:cNvPr>
          <p:cNvSpPr txBox="1"/>
          <p:nvPr/>
        </p:nvSpPr>
        <p:spPr>
          <a:xfrm>
            <a:off x="41260" y="985265"/>
            <a:ext cx="3745896" cy="28539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ko-KR" sz="1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Top 30 Market Update</a:t>
            </a:r>
            <a:endParaRPr kumimoji="1" lang="ko-KR" altLang="en-US" sz="1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F98039A-EDBD-A6CF-97E2-6282B5AD6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189114"/>
              </p:ext>
            </p:extLst>
          </p:nvPr>
        </p:nvGraphicFramePr>
        <p:xfrm>
          <a:off x="3481143" y="4035764"/>
          <a:ext cx="7088868" cy="2114550"/>
        </p:xfrm>
        <a:graphic>
          <a:graphicData uri="http://schemas.openxmlformats.org/drawingml/2006/table">
            <a:tbl>
              <a:tblPr/>
              <a:tblGrid>
                <a:gridCol w="1346136">
                  <a:extLst>
                    <a:ext uri="{9D8B030D-6E8A-4147-A177-3AD203B41FA5}">
                      <a16:colId xmlns:a16="http://schemas.microsoft.com/office/drawing/2014/main" val="3296279871"/>
                    </a:ext>
                  </a:extLst>
                </a:gridCol>
                <a:gridCol w="1176094">
                  <a:extLst>
                    <a:ext uri="{9D8B030D-6E8A-4147-A177-3AD203B41FA5}">
                      <a16:colId xmlns:a16="http://schemas.microsoft.com/office/drawing/2014/main" val="1687209995"/>
                    </a:ext>
                  </a:extLst>
                </a:gridCol>
                <a:gridCol w="1739318">
                  <a:extLst>
                    <a:ext uri="{9D8B030D-6E8A-4147-A177-3AD203B41FA5}">
                      <a16:colId xmlns:a16="http://schemas.microsoft.com/office/drawing/2014/main" val="327636133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4068824699"/>
                    </a:ext>
                  </a:extLst>
                </a:gridCol>
                <a:gridCol w="1547160">
                  <a:extLst>
                    <a:ext uri="{9D8B030D-6E8A-4147-A177-3AD203B41FA5}">
                      <a16:colId xmlns:a16="http://schemas.microsoft.com/office/drawing/2014/main" val="130417128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Metro Market "A" List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DMST Headcount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ETN Company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ETN Current Headcount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ETN Final Headcount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9827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Chicago, IL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2749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Houston, TX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0421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Austin, TX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00553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San Antonio, TX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21269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Minneapolis, MN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88121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Denver, CO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9498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Kansas City, KS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51464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11685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13775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00A76C1-6B39-7C18-FDC3-6F047A78E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186076"/>
              </p:ext>
            </p:extLst>
          </p:nvPr>
        </p:nvGraphicFramePr>
        <p:xfrm>
          <a:off x="306530" y="1334090"/>
          <a:ext cx="2749987" cy="546753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7131">
                  <a:extLst>
                    <a:ext uri="{9D8B030D-6E8A-4147-A177-3AD203B41FA5}">
                      <a16:colId xmlns:a16="http://schemas.microsoft.com/office/drawing/2014/main" val="1690677086"/>
                    </a:ext>
                  </a:extLst>
                </a:gridCol>
                <a:gridCol w="891216">
                  <a:extLst>
                    <a:ext uri="{9D8B030D-6E8A-4147-A177-3AD203B41FA5}">
                      <a16:colId xmlns:a16="http://schemas.microsoft.com/office/drawing/2014/main" val="25739653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3985056151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1507356414"/>
                    </a:ext>
                  </a:extLst>
                </a:gridCol>
                <a:gridCol w="393192">
                  <a:extLst>
                    <a:ext uri="{9D8B030D-6E8A-4147-A177-3AD203B41FA5}">
                      <a16:colId xmlns:a16="http://schemas.microsoft.com/office/drawing/2014/main" val="4057890726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2395540459"/>
                    </a:ext>
                  </a:extLst>
                </a:gridCol>
              </a:tblGrid>
              <a:tr h="161003">
                <a:tc rowSpan="2"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u="none" strike="noStrike">
                          <a:effectLst/>
                          <a:latin typeface="Arial Narrow"/>
                        </a:rPr>
                        <a:t> Dept KPI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Performance</a:t>
                      </a: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084320"/>
                  </a:ext>
                </a:extLst>
              </a:tr>
              <a:tr h="277331">
                <a:tc gridSpan="2" vMerge="1">
                  <a:txBody>
                    <a:bodyPr/>
                    <a:lstStyle/>
                    <a:p>
                      <a:pPr algn="l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‘25 Mar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Jan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Feb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Mar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924916"/>
                  </a:ext>
                </a:extLst>
              </a:tr>
              <a:tr h="226335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u="none" strike="noStrike">
                          <a:effectLst/>
                          <a:latin typeface="Arial Narrow"/>
                        </a:rPr>
                        <a:t>RTAT (Days)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75867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Chicago, IL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166483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 dirty="0">
                          <a:effectLst/>
                          <a:latin typeface="Arial Narrow"/>
                        </a:rPr>
                        <a:t>DMST</a:t>
                      </a:r>
                      <a:endParaRPr lang="en-US" sz="900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4.5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331504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 dirty="0">
                          <a:effectLst/>
                          <a:latin typeface="Arial Narrow"/>
                        </a:rPr>
                        <a:t>ETN</a:t>
                      </a:r>
                      <a:endParaRPr lang="en-US" sz="900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13.1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9.8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38082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Houston, TX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93512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 dirty="0">
                          <a:effectLst/>
                          <a:latin typeface="Arial Narrow"/>
                        </a:rPr>
                        <a:t>DMST</a:t>
                      </a:r>
                      <a:endParaRPr lang="en-US" sz="900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4.5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209062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 dirty="0">
                          <a:effectLst/>
                          <a:latin typeface="Arial Narrow"/>
                        </a:rPr>
                        <a:t>ETN</a:t>
                      </a:r>
                      <a:endParaRPr lang="en-US" sz="900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13.1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9.8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165115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Austin, TX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5.8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58285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 dirty="0">
                          <a:effectLst/>
                          <a:latin typeface="Arial Narrow"/>
                        </a:rPr>
                        <a:t>DMST</a:t>
                      </a:r>
                      <a:endParaRPr lang="en-US" sz="900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3.8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278375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7.0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5.6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5851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San Antonio, TX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5.5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52287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4.0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5303463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6.5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7.8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0566493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Minneapolis, MN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5.8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033893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 dirty="0">
                          <a:effectLst/>
                          <a:latin typeface="Arial Narrow"/>
                        </a:rPr>
                        <a:t>DMST</a:t>
                      </a:r>
                      <a:endParaRPr lang="en-US" sz="900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3.8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7354309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7.0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5.6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114245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Denver, CO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5.5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9941216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4.0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284752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6.5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7.8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874843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Kansas City, KS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5.5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53896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4.0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26816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6.5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7.8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2965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57B7CF0-2579-FE4A-855F-706D2379D04E}"/>
              </a:ext>
            </a:extLst>
          </p:cNvPr>
          <p:cNvSpPr txBox="1"/>
          <p:nvPr/>
        </p:nvSpPr>
        <p:spPr>
          <a:xfrm>
            <a:off x="3481143" y="2751738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3C7876-1C96-A1AF-F33D-3487CFD14761}"/>
              </a:ext>
            </a:extLst>
          </p:cNvPr>
          <p:cNvSpPr txBox="1"/>
          <p:nvPr/>
        </p:nvSpPr>
        <p:spPr>
          <a:xfrm>
            <a:off x="3647529" y="1462679"/>
            <a:ext cx="3745896" cy="45044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3EAFE7-E978-5CEE-BFF8-364BC5694ED7}"/>
              </a:ext>
            </a:extLst>
          </p:cNvPr>
          <p:cNvSpPr txBox="1"/>
          <p:nvPr/>
        </p:nvSpPr>
        <p:spPr>
          <a:xfrm>
            <a:off x="3481144" y="1233628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39E071-84BE-D411-7A66-F409B0D070E9}"/>
              </a:ext>
            </a:extLst>
          </p:cNvPr>
          <p:cNvSpPr txBox="1"/>
          <p:nvPr/>
        </p:nvSpPr>
        <p:spPr>
          <a:xfrm>
            <a:off x="3644280" y="2989641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66E5BE-BA87-EDB1-3855-A311F92CC5CB}"/>
              </a:ext>
            </a:extLst>
          </p:cNvPr>
          <p:cNvSpPr txBox="1"/>
          <p:nvPr/>
        </p:nvSpPr>
        <p:spPr>
          <a:xfrm>
            <a:off x="3683652" y="3422172"/>
            <a:ext cx="2944399" cy="16158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13321F-55CC-E2D5-FC8B-5667972A28C0}"/>
              </a:ext>
            </a:extLst>
          </p:cNvPr>
          <p:cNvSpPr txBox="1"/>
          <p:nvPr/>
        </p:nvSpPr>
        <p:spPr>
          <a:xfrm>
            <a:off x="8044212" y="1438704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8F9197-F069-9184-7C68-65C76553E582}"/>
              </a:ext>
            </a:extLst>
          </p:cNvPr>
          <p:cNvSpPr txBox="1"/>
          <p:nvPr/>
        </p:nvSpPr>
        <p:spPr>
          <a:xfrm>
            <a:off x="8029496" y="3029681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D18875-F744-1836-5A25-44618FC7ADE9}"/>
              </a:ext>
            </a:extLst>
          </p:cNvPr>
          <p:cNvSpPr txBox="1"/>
          <p:nvPr/>
        </p:nvSpPr>
        <p:spPr>
          <a:xfrm>
            <a:off x="7763294" y="2752480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E26400-397F-EB95-8558-F9C6E9224286}"/>
              </a:ext>
            </a:extLst>
          </p:cNvPr>
          <p:cNvSpPr txBox="1"/>
          <p:nvPr/>
        </p:nvSpPr>
        <p:spPr>
          <a:xfrm>
            <a:off x="7763294" y="1183340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CD5FE6-AC65-F8F1-3320-BAD59F8F5B99}"/>
              </a:ext>
            </a:extLst>
          </p:cNvPr>
          <p:cNvSpPr txBox="1"/>
          <p:nvPr/>
        </p:nvSpPr>
        <p:spPr>
          <a:xfrm>
            <a:off x="3747345" y="6550732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F5FA2F-46BD-C116-72BB-2E360722051D}"/>
              </a:ext>
            </a:extLst>
          </p:cNvPr>
          <p:cNvSpPr txBox="1"/>
          <p:nvPr/>
        </p:nvSpPr>
        <p:spPr>
          <a:xfrm>
            <a:off x="3481143" y="6273531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100% Branded Coverage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821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002099B-6B43-2ABD-3F40-4DA5E24E3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46">
            <a:extLst>
              <a:ext uri="{FF2B5EF4-FFF2-40B4-BE49-F238E27FC236}">
                <a16:creationId xmlns:a16="http://schemas.microsoft.com/office/drawing/2014/main" id="{B95BD02A-A08C-CBDF-20E5-1B6F22EEE2B3}"/>
              </a:ext>
            </a:extLst>
          </p:cNvPr>
          <p:cNvGrpSpPr/>
          <p:nvPr/>
        </p:nvGrpSpPr>
        <p:grpSpPr>
          <a:xfrm>
            <a:off x="3512983" y="707685"/>
            <a:ext cx="3657600" cy="239077"/>
            <a:chOff x="232514" y="275033"/>
            <a:chExt cx="1857712" cy="202354"/>
          </a:xfrm>
        </p:grpSpPr>
        <p:sp>
          <p:nvSpPr>
            <p:cNvPr id="47" name="Text Box 41">
              <a:extLst>
                <a:ext uri="{FF2B5EF4-FFF2-40B4-BE49-F238E27FC236}">
                  <a16:creationId xmlns:a16="http://schemas.microsoft.com/office/drawing/2014/main" id="{D617C897-8EB1-5085-9D7E-5D9E90282E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75033"/>
              <a:ext cx="1422488" cy="182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March Review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1" name="직선 연결선 148">
              <a:extLst>
                <a:ext uri="{FF2B5EF4-FFF2-40B4-BE49-F238E27FC236}">
                  <a16:creationId xmlns:a16="http://schemas.microsoft.com/office/drawing/2014/main" id="{6F4B3BC9-DAFA-C37B-2EB9-E5ECF8F24CF9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그룹 146">
            <a:extLst>
              <a:ext uri="{FF2B5EF4-FFF2-40B4-BE49-F238E27FC236}">
                <a16:creationId xmlns:a16="http://schemas.microsoft.com/office/drawing/2014/main" id="{307781F7-BB2B-39CE-7316-1CB62DA49B11}"/>
              </a:ext>
            </a:extLst>
          </p:cNvPr>
          <p:cNvGrpSpPr/>
          <p:nvPr/>
        </p:nvGrpSpPr>
        <p:grpSpPr>
          <a:xfrm>
            <a:off x="7748381" y="707686"/>
            <a:ext cx="3657600" cy="240954"/>
            <a:chOff x="232514" y="236433"/>
            <a:chExt cx="1857712" cy="240954"/>
          </a:xfrm>
        </p:grpSpPr>
        <p:sp>
          <p:nvSpPr>
            <p:cNvPr id="53" name="Text Box 41">
              <a:extLst>
                <a:ext uri="{FF2B5EF4-FFF2-40B4-BE49-F238E27FC236}">
                  <a16:creationId xmlns:a16="http://schemas.microsoft.com/office/drawing/2014/main" id="{D6A0F55F-5F96-2A98-904B-B3E627162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072" y="236433"/>
              <a:ext cx="60063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/>
                  <a:ea typeface="LG스마트체 Regular"/>
                  <a:cs typeface="+mn-cs"/>
                </a:rPr>
                <a:t>April Strategy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4" name="직선 연결선 148">
              <a:extLst>
                <a:ext uri="{FF2B5EF4-FFF2-40B4-BE49-F238E27FC236}">
                  <a16:creationId xmlns:a16="http://schemas.microsoft.com/office/drawing/2014/main" id="{A55932A4-7540-AA26-6A58-A2C6334D3CF9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5" name="그룹 146">
            <a:extLst>
              <a:ext uri="{FF2B5EF4-FFF2-40B4-BE49-F238E27FC236}">
                <a16:creationId xmlns:a16="http://schemas.microsoft.com/office/drawing/2014/main" id="{DABF7ABF-684B-61F4-AD16-9116C8F2BB3F}"/>
              </a:ext>
            </a:extLst>
          </p:cNvPr>
          <p:cNvGrpSpPr/>
          <p:nvPr/>
        </p:nvGrpSpPr>
        <p:grpSpPr>
          <a:xfrm>
            <a:off x="195594" y="707686"/>
            <a:ext cx="2816151" cy="232440"/>
            <a:chOff x="232514" y="232790"/>
            <a:chExt cx="1857712" cy="244597"/>
          </a:xfrm>
        </p:grpSpPr>
        <p:sp>
          <p:nvSpPr>
            <p:cNvPr id="56" name="Text Box 41">
              <a:extLst>
                <a:ext uri="{FF2B5EF4-FFF2-40B4-BE49-F238E27FC236}">
                  <a16:creationId xmlns:a16="http://schemas.microsoft.com/office/drawing/2014/main" id="{02C5207B-8405-5594-F957-EF77FC58A5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32790"/>
              <a:ext cx="1422488" cy="182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Performance</a:t>
              </a:r>
              <a:endPara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7" name="직선 연결선 148">
              <a:extLst>
                <a:ext uri="{FF2B5EF4-FFF2-40B4-BE49-F238E27FC236}">
                  <a16:creationId xmlns:a16="http://schemas.microsoft.com/office/drawing/2014/main" id="{25D48490-5F3D-F14A-79C8-C67F5821746F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24E2BD81-9589-DD4A-2D63-A39A029591D6}"/>
              </a:ext>
            </a:extLst>
          </p:cNvPr>
          <p:cNvSpPr txBox="1"/>
          <p:nvPr/>
        </p:nvSpPr>
        <p:spPr>
          <a:xfrm>
            <a:off x="25876" y="947289"/>
            <a:ext cx="3657600" cy="28539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ko-KR" sz="1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Northeast</a:t>
            </a:r>
            <a:endParaRPr kumimoji="1" lang="ko-KR" altLang="en-US" sz="1600" b="1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4C2A8C7F-AD65-F5D4-027F-F250BC43E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36" y="76150"/>
            <a:ext cx="5134576" cy="404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09" tIns="47855" rIns="95709" bIns="47855">
            <a:spAutoFit/>
          </a:bodyPr>
          <a:lstStyle>
            <a:lvl1pPr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[Field Service] 3-Day RTAT Market Overview West</a:t>
            </a:r>
            <a:endParaRPr kumimoji="1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F1901EE8-CF65-3358-551A-6DD3BA6A91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" y="548680"/>
            <a:ext cx="12192000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3" name="Action Button: Home 4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2B6AAC5-5C3A-76B3-7A4F-00FD7A54F077}"/>
              </a:ext>
            </a:extLst>
          </p:cNvPr>
          <p:cNvSpPr/>
          <p:nvPr/>
        </p:nvSpPr>
        <p:spPr>
          <a:xfrm>
            <a:off x="11639377" y="217917"/>
            <a:ext cx="261389" cy="261847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34" charset="-127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37E524-7BF0-3C39-1B6A-D89F199A2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171429"/>
              </p:ext>
            </p:extLst>
          </p:nvPr>
        </p:nvGraphicFramePr>
        <p:xfrm>
          <a:off x="212669" y="1338366"/>
          <a:ext cx="2749987" cy="272433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7131">
                  <a:extLst>
                    <a:ext uri="{9D8B030D-6E8A-4147-A177-3AD203B41FA5}">
                      <a16:colId xmlns:a16="http://schemas.microsoft.com/office/drawing/2014/main" val="1690677086"/>
                    </a:ext>
                  </a:extLst>
                </a:gridCol>
                <a:gridCol w="891216">
                  <a:extLst>
                    <a:ext uri="{9D8B030D-6E8A-4147-A177-3AD203B41FA5}">
                      <a16:colId xmlns:a16="http://schemas.microsoft.com/office/drawing/2014/main" val="25739653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3985056151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1507356414"/>
                    </a:ext>
                  </a:extLst>
                </a:gridCol>
                <a:gridCol w="393192">
                  <a:extLst>
                    <a:ext uri="{9D8B030D-6E8A-4147-A177-3AD203B41FA5}">
                      <a16:colId xmlns:a16="http://schemas.microsoft.com/office/drawing/2014/main" val="4057890726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2395540459"/>
                    </a:ext>
                  </a:extLst>
                </a:gridCol>
              </a:tblGrid>
              <a:tr h="161003">
                <a:tc rowSpan="2"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u="none" strike="noStrike">
                          <a:effectLst/>
                          <a:latin typeface="Arial Narrow"/>
                        </a:rPr>
                        <a:t> Dept KPI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Performance</a:t>
                      </a: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084320"/>
                  </a:ext>
                </a:extLst>
              </a:tr>
              <a:tr h="277331">
                <a:tc gridSpan="2" vMerge="1">
                  <a:txBody>
                    <a:bodyPr/>
                    <a:lstStyle/>
                    <a:p>
                      <a:pPr algn="l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‘25 Mar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Jan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Feb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Mar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924916"/>
                  </a:ext>
                </a:extLst>
              </a:tr>
              <a:tr h="226335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u="none" strike="noStrike">
                          <a:effectLst/>
                          <a:latin typeface="Arial Narrow"/>
                        </a:rPr>
                        <a:t>RTAT (Days)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75867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Los Angeles, CA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166483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331504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 dirty="0">
                          <a:effectLst/>
                          <a:latin typeface="Arial Narrow"/>
                        </a:rPr>
                        <a:t>ETN</a:t>
                      </a:r>
                      <a:endParaRPr lang="en-US" sz="900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13.1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9.8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38082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Las Vegas, NV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5.8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93512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3.8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209062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7.0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165115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San Diego, CA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5.5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58285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278375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7.8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5851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BF75A98-5EF9-0193-2376-DFA94E32FB73}"/>
              </a:ext>
            </a:extLst>
          </p:cNvPr>
          <p:cNvSpPr txBox="1"/>
          <p:nvPr/>
        </p:nvSpPr>
        <p:spPr>
          <a:xfrm>
            <a:off x="3481143" y="3583842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D5EBCE-C335-A58E-E99A-35C8AA90AFCE}"/>
              </a:ext>
            </a:extLst>
          </p:cNvPr>
          <p:cNvSpPr txBox="1"/>
          <p:nvPr/>
        </p:nvSpPr>
        <p:spPr>
          <a:xfrm>
            <a:off x="3647529" y="1462679"/>
            <a:ext cx="3745896" cy="45044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D49112-185B-7AC3-5577-8ACF5AAA75F8}"/>
              </a:ext>
            </a:extLst>
          </p:cNvPr>
          <p:cNvSpPr txBox="1"/>
          <p:nvPr/>
        </p:nvSpPr>
        <p:spPr>
          <a:xfrm>
            <a:off x="3481144" y="1233628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F5CF8-FB43-F7CA-5A9B-922205B9A86B}"/>
              </a:ext>
            </a:extLst>
          </p:cNvPr>
          <p:cNvSpPr txBox="1"/>
          <p:nvPr/>
        </p:nvSpPr>
        <p:spPr>
          <a:xfrm>
            <a:off x="3644280" y="3821745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8C21A-2CE6-A112-C55D-9FAEE760033D}"/>
              </a:ext>
            </a:extLst>
          </p:cNvPr>
          <p:cNvSpPr txBox="1"/>
          <p:nvPr/>
        </p:nvSpPr>
        <p:spPr>
          <a:xfrm>
            <a:off x="3683652" y="4254276"/>
            <a:ext cx="2944399" cy="16158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56E8F-C46D-A4EB-4688-E60B23301E4A}"/>
              </a:ext>
            </a:extLst>
          </p:cNvPr>
          <p:cNvSpPr txBox="1"/>
          <p:nvPr/>
        </p:nvSpPr>
        <p:spPr>
          <a:xfrm>
            <a:off x="8044212" y="1438704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A3DA0F-8C1F-EA34-07C5-5C1004C4B116}"/>
              </a:ext>
            </a:extLst>
          </p:cNvPr>
          <p:cNvSpPr txBox="1"/>
          <p:nvPr/>
        </p:nvSpPr>
        <p:spPr>
          <a:xfrm>
            <a:off x="8029496" y="3861785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A143CC-7971-8A74-346E-A6288ED27F52}"/>
              </a:ext>
            </a:extLst>
          </p:cNvPr>
          <p:cNvSpPr txBox="1"/>
          <p:nvPr/>
        </p:nvSpPr>
        <p:spPr>
          <a:xfrm>
            <a:off x="7763294" y="3584584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4EC5E8-DDEC-00E6-3A44-945E5087151F}"/>
              </a:ext>
            </a:extLst>
          </p:cNvPr>
          <p:cNvSpPr txBox="1"/>
          <p:nvPr/>
        </p:nvSpPr>
        <p:spPr>
          <a:xfrm>
            <a:off x="7763294" y="1183340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3558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FB388A-D291-8027-4030-8DB8B99A9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46">
            <a:extLst>
              <a:ext uri="{FF2B5EF4-FFF2-40B4-BE49-F238E27FC236}">
                <a16:creationId xmlns:a16="http://schemas.microsoft.com/office/drawing/2014/main" id="{D1E67C08-4FDD-958E-8D8F-1433684A783D}"/>
              </a:ext>
            </a:extLst>
          </p:cNvPr>
          <p:cNvGrpSpPr/>
          <p:nvPr/>
        </p:nvGrpSpPr>
        <p:grpSpPr>
          <a:xfrm>
            <a:off x="3512983" y="707685"/>
            <a:ext cx="3657600" cy="239077"/>
            <a:chOff x="232514" y="275033"/>
            <a:chExt cx="1857712" cy="202354"/>
          </a:xfrm>
        </p:grpSpPr>
        <p:sp>
          <p:nvSpPr>
            <p:cNvPr id="47" name="Text Box 41">
              <a:extLst>
                <a:ext uri="{FF2B5EF4-FFF2-40B4-BE49-F238E27FC236}">
                  <a16:creationId xmlns:a16="http://schemas.microsoft.com/office/drawing/2014/main" id="{8EEE3369-56B5-E99D-3C79-F99498E96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75033"/>
              <a:ext cx="1422488" cy="182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March Review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1" name="직선 연결선 148">
              <a:extLst>
                <a:ext uri="{FF2B5EF4-FFF2-40B4-BE49-F238E27FC236}">
                  <a16:creationId xmlns:a16="http://schemas.microsoft.com/office/drawing/2014/main" id="{F8D6AF48-6794-032E-1C13-0DB3594FF419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그룹 146">
            <a:extLst>
              <a:ext uri="{FF2B5EF4-FFF2-40B4-BE49-F238E27FC236}">
                <a16:creationId xmlns:a16="http://schemas.microsoft.com/office/drawing/2014/main" id="{1EDF7965-AD52-F7D6-E12F-750134523CDF}"/>
              </a:ext>
            </a:extLst>
          </p:cNvPr>
          <p:cNvGrpSpPr/>
          <p:nvPr/>
        </p:nvGrpSpPr>
        <p:grpSpPr>
          <a:xfrm>
            <a:off x="7748381" y="707686"/>
            <a:ext cx="3657600" cy="240954"/>
            <a:chOff x="232514" y="236433"/>
            <a:chExt cx="1857712" cy="240954"/>
          </a:xfrm>
        </p:grpSpPr>
        <p:sp>
          <p:nvSpPr>
            <p:cNvPr id="53" name="Text Box 41">
              <a:extLst>
                <a:ext uri="{FF2B5EF4-FFF2-40B4-BE49-F238E27FC236}">
                  <a16:creationId xmlns:a16="http://schemas.microsoft.com/office/drawing/2014/main" id="{88305B95-5EE3-E130-1DD9-7204A16241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072" y="236433"/>
              <a:ext cx="60063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/>
                  <a:ea typeface="LG스마트체 Regular"/>
                  <a:cs typeface="+mn-cs"/>
                </a:rPr>
                <a:t>April Strategy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4" name="직선 연결선 148">
              <a:extLst>
                <a:ext uri="{FF2B5EF4-FFF2-40B4-BE49-F238E27FC236}">
                  <a16:creationId xmlns:a16="http://schemas.microsoft.com/office/drawing/2014/main" id="{4E8CE8C0-E323-02C9-CCDD-AC454FB8612A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5" name="그룹 146">
            <a:extLst>
              <a:ext uri="{FF2B5EF4-FFF2-40B4-BE49-F238E27FC236}">
                <a16:creationId xmlns:a16="http://schemas.microsoft.com/office/drawing/2014/main" id="{F98522D8-9EFD-DCF7-7416-7A369885D61B}"/>
              </a:ext>
            </a:extLst>
          </p:cNvPr>
          <p:cNvGrpSpPr/>
          <p:nvPr/>
        </p:nvGrpSpPr>
        <p:grpSpPr>
          <a:xfrm>
            <a:off x="195594" y="707686"/>
            <a:ext cx="2816151" cy="232440"/>
            <a:chOff x="232514" y="232790"/>
            <a:chExt cx="1857712" cy="244597"/>
          </a:xfrm>
        </p:grpSpPr>
        <p:sp>
          <p:nvSpPr>
            <p:cNvPr id="56" name="Text Box 41">
              <a:extLst>
                <a:ext uri="{FF2B5EF4-FFF2-40B4-BE49-F238E27FC236}">
                  <a16:creationId xmlns:a16="http://schemas.microsoft.com/office/drawing/2014/main" id="{F1E9F853-5BFA-8BD0-8D2A-218392519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32790"/>
              <a:ext cx="1422488" cy="182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Performance</a:t>
              </a:r>
              <a:endPara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7" name="직선 연결선 148">
              <a:extLst>
                <a:ext uri="{FF2B5EF4-FFF2-40B4-BE49-F238E27FC236}">
                  <a16:creationId xmlns:a16="http://schemas.microsoft.com/office/drawing/2014/main" id="{2B7D4A3F-CA87-6806-121D-013CA18670B1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" name="Text Box 3">
            <a:extLst>
              <a:ext uri="{FF2B5EF4-FFF2-40B4-BE49-F238E27FC236}">
                <a16:creationId xmlns:a16="http://schemas.microsoft.com/office/drawing/2014/main" id="{C0FC822F-F659-D641-9793-4C634748F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36" y="76150"/>
            <a:ext cx="5134576" cy="404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09" tIns="47855" rIns="95709" bIns="47855">
            <a:spAutoFit/>
          </a:bodyPr>
          <a:lstStyle>
            <a:lvl1pPr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[Field Service] 3-Day RTAT Market Overview West</a:t>
            </a:r>
            <a:endParaRPr kumimoji="1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8FD561A0-CDCB-E017-E32A-8EFEE0140D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" y="548680"/>
            <a:ext cx="12192000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3" name="Action Button: Home 4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A2B93F2-9F6D-E8DA-74BB-AFD8F7280608}"/>
              </a:ext>
            </a:extLst>
          </p:cNvPr>
          <p:cNvSpPr/>
          <p:nvPr/>
        </p:nvSpPr>
        <p:spPr>
          <a:xfrm>
            <a:off x="11639377" y="217917"/>
            <a:ext cx="261389" cy="261847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34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4B03D-7384-517E-B464-54C5449CC5A7}"/>
              </a:ext>
            </a:extLst>
          </p:cNvPr>
          <p:cNvSpPr txBox="1"/>
          <p:nvPr/>
        </p:nvSpPr>
        <p:spPr>
          <a:xfrm>
            <a:off x="41260" y="985265"/>
            <a:ext cx="3745896" cy="28539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ko-KR" sz="1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Top 30 Market Update</a:t>
            </a:r>
            <a:endParaRPr kumimoji="1" lang="ko-KR" altLang="en-US" sz="1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B20B19B-4257-AE97-7FCD-7E8214D69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951674"/>
              </p:ext>
            </p:extLst>
          </p:nvPr>
        </p:nvGraphicFramePr>
        <p:xfrm>
          <a:off x="3481143" y="4035764"/>
          <a:ext cx="7088868" cy="2114550"/>
        </p:xfrm>
        <a:graphic>
          <a:graphicData uri="http://schemas.openxmlformats.org/drawingml/2006/table">
            <a:tbl>
              <a:tblPr/>
              <a:tblGrid>
                <a:gridCol w="1346136">
                  <a:extLst>
                    <a:ext uri="{9D8B030D-6E8A-4147-A177-3AD203B41FA5}">
                      <a16:colId xmlns:a16="http://schemas.microsoft.com/office/drawing/2014/main" val="3296279871"/>
                    </a:ext>
                  </a:extLst>
                </a:gridCol>
                <a:gridCol w="1176094">
                  <a:extLst>
                    <a:ext uri="{9D8B030D-6E8A-4147-A177-3AD203B41FA5}">
                      <a16:colId xmlns:a16="http://schemas.microsoft.com/office/drawing/2014/main" val="1687209995"/>
                    </a:ext>
                  </a:extLst>
                </a:gridCol>
                <a:gridCol w="1739318">
                  <a:extLst>
                    <a:ext uri="{9D8B030D-6E8A-4147-A177-3AD203B41FA5}">
                      <a16:colId xmlns:a16="http://schemas.microsoft.com/office/drawing/2014/main" val="327636133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4068824699"/>
                    </a:ext>
                  </a:extLst>
                </a:gridCol>
                <a:gridCol w="1547160">
                  <a:extLst>
                    <a:ext uri="{9D8B030D-6E8A-4147-A177-3AD203B41FA5}">
                      <a16:colId xmlns:a16="http://schemas.microsoft.com/office/drawing/2014/main" val="130417128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Metro Market "A" List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DMST Headcount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ETN Company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ETN Current Headcount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ETN Final Headcount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9827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Phoenix, AZ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2749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Seattle, WA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0421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San Francisco, CA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00553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Sacramento, CA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21269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San Jose, CA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88121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Salt Lake City, UT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9498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51464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11685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13775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302B17B-7768-6A6B-B9D8-AF0543472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436439"/>
              </p:ext>
            </p:extLst>
          </p:nvPr>
        </p:nvGraphicFramePr>
        <p:xfrm>
          <a:off x="306530" y="1370666"/>
          <a:ext cx="2749987" cy="478173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7131">
                  <a:extLst>
                    <a:ext uri="{9D8B030D-6E8A-4147-A177-3AD203B41FA5}">
                      <a16:colId xmlns:a16="http://schemas.microsoft.com/office/drawing/2014/main" val="1690677086"/>
                    </a:ext>
                  </a:extLst>
                </a:gridCol>
                <a:gridCol w="891216">
                  <a:extLst>
                    <a:ext uri="{9D8B030D-6E8A-4147-A177-3AD203B41FA5}">
                      <a16:colId xmlns:a16="http://schemas.microsoft.com/office/drawing/2014/main" val="25739653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3985056151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1507356414"/>
                    </a:ext>
                  </a:extLst>
                </a:gridCol>
                <a:gridCol w="393192">
                  <a:extLst>
                    <a:ext uri="{9D8B030D-6E8A-4147-A177-3AD203B41FA5}">
                      <a16:colId xmlns:a16="http://schemas.microsoft.com/office/drawing/2014/main" val="4057890726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2395540459"/>
                    </a:ext>
                  </a:extLst>
                </a:gridCol>
              </a:tblGrid>
              <a:tr h="161003">
                <a:tc rowSpan="2"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u="none" strike="noStrike">
                          <a:effectLst/>
                          <a:latin typeface="Arial Narrow"/>
                        </a:rPr>
                        <a:t> Dept KPI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Performance</a:t>
                      </a: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084320"/>
                  </a:ext>
                </a:extLst>
              </a:tr>
              <a:tr h="277331">
                <a:tc gridSpan="2" vMerge="1">
                  <a:txBody>
                    <a:bodyPr/>
                    <a:lstStyle/>
                    <a:p>
                      <a:pPr algn="l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l" rtl="0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786" marR="5786" marT="578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‘25 Mar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Jan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Feb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‘26 Mar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924916"/>
                  </a:ext>
                </a:extLst>
              </a:tr>
              <a:tr h="226335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900" b="1" u="none" strike="noStrike">
                          <a:effectLst/>
                          <a:latin typeface="Arial Narrow"/>
                        </a:rPr>
                        <a:t>RTAT (Days)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75867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Phoenix, AZ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166483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 dirty="0">
                          <a:effectLst/>
                          <a:latin typeface="Arial Narrow"/>
                        </a:rPr>
                        <a:t>DMST</a:t>
                      </a:r>
                      <a:endParaRPr lang="en-US" sz="900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4.5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331504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 dirty="0">
                          <a:effectLst/>
                          <a:latin typeface="Arial Narrow"/>
                        </a:rPr>
                        <a:t>ETN</a:t>
                      </a:r>
                      <a:endParaRPr lang="en-US" sz="900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13.1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9.8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38082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Seattle, WA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5.8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93512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3.8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209062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7.0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5.6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165115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San Fran, CA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5.5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58285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4.0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2783751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6.5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7.8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5851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Sacramento, CA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0869499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 dirty="0">
                          <a:effectLst/>
                          <a:latin typeface="Arial Narrow"/>
                        </a:rPr>
                        <a:t>DMST</a:t>
                      </a:r>
                      <a:endParaRPr lang="en-US" sz="900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4.5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3496252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 dirty="0">
                          <a:effectLst/>
                          <a:latin typeface="Arial Narrow"/>
                        </a:rPr>
                        <a:t>ETN</a:t>
                      </a:r>
                      <a:endParaRPr lang="en-US" sz="900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13.1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9.8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6.3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3178214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San Jose, CA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5.8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387668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3.8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9680557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7.0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5.6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059847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strike="noStrike" dirty="0">
                          <a:effectLst/>
                          <a:latin typeface="Arial Narrow"/>
                        </a:rPr>
                        <a:t>Salt Lake City, UT</a:t>
                      </a:r>
                      <a:endParaRPr lang="en-US" sz="900" b="1" dirty="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5.5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4.7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4.6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572660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DMST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4.4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4.0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9594200"/>
                  </a:ext>
                </a:extLst>
              </a:tr>
              <a:tr h="226335">
                <a:tc>
                  <a:txBody>
                    <a:bodyPr/>
                    <a:lstStyle/>
                    <a:p>
                      <a:pPr algn="l" rtl="0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strike="noStrike">
                          <a:effectLst/>
                          <a:latin typeface="Arial Narrow"/>
                        </a:rPr>
                        <a:t>ETN</a:t>
                      </a:r>
                      <a:endParaRPr lang="en-US" sz="900">
                        <a:latin typeface="Arial Narrow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6.1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6.5</a:t>
                      </a:r>
                    </a:p>
                  </a:txBody>
                  <a:tcPr marL="9525" marR="9525" marT="9525" marB="0" anchor="ctr"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7.8</a:t>
                      </a:r>
                    </a:p>
                  </a:txBody>
                  <a:tcPr marL="9525" marR="9525" marT="9525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4665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3BEEBD-DFDC-6F92-9269-BF0FB3B06A70}"/>
              </a:ext>
            </a:extLst>
          </p:cNvPr>
          <p:cNvSpPr txBox="1"/>
          <p:nvPr/>
        </p:nvSpPr>
        <p:spPr>
          <a:xfrm>
            <a:off x="3481143" y="2751738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5E4E28-3BEC-428D-F91D-4B55B1A3A7FA}"/>
              </a:ext>
            </a:extLst>
          </p:cNvPr>
          <p:cNvSpPr txBox="1"/>
          <p:nvPr/>
        </p:nvSpPr>
        <p:spPr>
          <a:xfrm>
            <a:off x="3647529" y="1462679"/>
            <a:ext cx="3745896" cy="45044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1C4047-3A27-8166-7537-1542BD3C63EB}"/>
              </a:ext>
            </a:extLst>
          </p:cNvPr>
          <p:cNvSpPr txBox="1"/>
          <p:nvPr/>
        </p:nvSpPr>
        <p:spPr>
          <a:xfrm>
            <a:off x="3481144" y="1233628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E290E4-295C-605E-BF85-32770DBE174E}"/>
              </a:ext>
            </a:extLst>
          </p:cNvPr>
          <p:cNvSpPr txBox="1"/>
          <p:nvPr/>
        </p:nvSpPr>
        <p:spPr>
          <a:xfrm>
            <a:off x="3644280" y="2989641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DA4CFF-5ACA-A622-85D3-0E4AAB640E17}"/>
              </a:ext>
            </a:extLst>
          </p:cNvPr>
          <p:cNvSpPr txBox="1"/>
          <p:nvPr/>
        </p:nvSpPr>
        <p:spPr>
          <a:xfrm>
            <a:off x="3683652" y="3422172"/>
            <a:ext cx="2944399" cy="16158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D79AEF-E91A-396F-E7CB-B7216F716DC8}"/>
              </a:ext>
            </a:extLst>
          </p:cNvPr>
          <p:cNvSpPr txBox="1"/>
          <p:nvPr/>
        </p:nvSpPr>
        <p:spPr>
          <a:xfrm>
            <a:off x="8044212" y="1438704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A73B3D-CD94-6B91-1F04-01BE5E3597A3}"/>
              </a:ext>
            </a:extLst>
          </p:cNvPr>
          <p:cNvSpPr txBox="1"/>
          <p:nvPr/>
        </p:nvSpPr>
        <p:spPr>
          <a:xfrm>
            <a:off x="8029496" y="3029681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88819A-0B96-4E79-7779-844AE01ECF0E}"/>
              </a:ext>
            </a:extLst>
          </p:cNvPr>
          <p:cNvSpPr txBox="1"/>
          <p:nvPr/>
        </p:nvSpPr>
        <p:spPr>
          <a:xfrm>
            <a:off x="7763294" y="2752480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7F7D3A-08B0-9EDD-C6C1-D4F7B1BE12E4}"/>
              </a:ext>
            </a:extLst>
          </p:cNvPr>
          <p:cNvSpPr txBox="1"/>
          <p:nvPr/>
        </p:nvSpPr>
        <p:spPr>
          <a:xfrm>
            <a:off x="7763294" y="1183340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166BE8-A8CB-5CCD-ADC7-243347FA6ADD}"/>
              </a:ext>
            </a:extLst>
          </p:cNvPr>
          <p:cNvSpPr txBox="1"/>
          <p:nvPr/>
        </p:nvSpPr>
        <p:spPr>
          <a:xfrm>
            <a:off x="3747345" y="6551586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A0370D-3178-3F3A-F7C4-CE8A27F02E47}"/>
              </a:ext>
            </a:extLst>
          </p:cNvPr>
          <p:cNvSpPr txBox="1"/>
          <p:nvPr/>
        </p:nvSpPr>
        <p:spPr>
          <a:xfrm>
            <a:off x="3481143" y="6274385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100% Branded Coverage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2568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9444BBA-B45E-60A1-2598-11ABDDB71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46">
            <a:extLst>
              <a:ext uri="{FF2B5EF4-FFF2-40B4-BE49-F238E27FC236}">
                <a16:creationId xmlns:a16="http://schemas.microsoft.com/office/drawing/2014/main" id="{04285BA4-8D1B-7C11-67A4-856841249A2B}"/>
              </a:ext>
            </a:extLst>
          </p:cNvPr>
          <p:cNvGrpSpPr/>
          <p:nvPr/>
        </p:nvGrpSpPr>
        <p:grpSpPr>
          <a:xfrm>
            <a:off x="3512983" y="707685"/>
            <a:ext cx="3657600" cy="239077"/>
            <a:chOff x="232514" y="275033"/>
            <a:chExt cx="1857712" cy="202354"/>
          </a:xfrm>
        </p:grpSpPr>
        <p:sp>
          <p:nvSpPr>
            <p:cNvPr id="47" name="Text Box 41">
              <a:extLst>
                <a:ext uri="{FF2B5EF4-FFF2-40B4-BE49-F238E27FC236}">
                  <a16:creationId xmlns:a16="http://schemas.microsoft.com/office/drawing/2014/main" id="{C015A1EA-4CF0-B2DC-4420-785A096B6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75033"/>
              <a:ext cx="1422488" cy="182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March Review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1" name="직선 연결선 148">
              <a:extLst>
                <a:ext uri="{FF2B5EF4-FFF2-40B4-BE49-F238E27FC236}">
                  <a16:creationId xmlns:a16="http://schemas.microsoft.com/office/drawing/2014/main" id="{C8EF31B2-C171-7D07-74E4-5E60EB998D3A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그룹 146">
            <a:extLst>
              <a:ext uri="{FF2B5EF4-FFF2-40B4-BE49-F238E27FC236}">
                <a16:creationId xmlns:a16="http://schemas.microsoft.com/office/drawing/2014/main" id="{606C8D84-35A3-E4C1-BA06-45ED880B525F}"/>
              </a:ext>
            </a:extLst>
          </p:cNvPr>
          <p:cNvGrpSpPr/>
          <p:nvPr/>
        </p:nvGrpSpPr>
        <p:grpSpPr>
          <a:xfrm>
            <a:off x="7748381" y="707686"/>
            <a:ext cx="3657600" cy="240954"/>
            <a:chOff x="232514" y="236433"/>
            <a:chExt cx="1857712" cy="240954"/>
          </a:xfrm>
        </p:grpSpPr>
        <p:sp>
          <p:nvSpPr>
            <p:cNvPr id="53" name="Text Box 41">
              <a:extLst>
                <a:ext uri="{FF2B5EF4-FFF2-40B4-BE49-F238E27FC236}">
                  <a16:creationId xmlns:a16="http://schemas.microsoft.com/office/drawing/2014/main" id="{047E32EE-2CDA-8AED-3C81-1307902DA5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072" y="236433"/>
              <a:ext cx="60063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/>
                  <a:ea typeface="LG스마트체 Regular"/>
                  <a:cs typeface="+mn-cs"/>
                </a:rPr>
                <a:t>April Strategy</a:t>
              </a:r>
              <a:endParaRPr kumimoji="1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4" name="직선 연결선 148">
              <a:extLst>
                <a:ext uri="{FF2B5EF4-FFF2-40B4-BE49-F238E27FC236}">
                  <a16:creationId xmlns:a16="http://schemas.microsoft.com/office/drawing/2014/main" id="{226342DA-53BE-EC62-8169-A99B06C6B40F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5" name="그룹 146">
            <a:extLst>
              <a:ext uri="{FF2B5EF4-FFF2-40B4-BE49-F238E27FC236}">
                <a16:creationId xmlns:a16="http://schemas.microsoft.com/office/drawing/2014/main" id="{26D3D187-0409-91B1-7B6C-3EF64FC00708}"/>
              </a:ext>
            </a:extLst>
          </p:cNvPr>
          <p:cNvGrpSpPr/>
          <p:nvPr/>
        </p:nvGrpSpPr>
        <p:grpSpPr>
          <a:xfrm>
            <a:off x="195594" y="707686"/>
            <a:ext cx="2816151" cy="232440"/>
            <a:chOff x="232514" y="232790"/>
            <a:chExt cx="1857712" cy="244597"/>
          </a:xfrm>
        </p:grpSpPr>
        <p:sp>
          <p:nvSpPr>
            <p:cNvPr id="56" name="Text Box 41">
              <a:extLst>
                <a:ext uri="{FF2B5EF4-FFF2-40B4-BE49-F238E27FC236}">
                  <a16:creationId xmlns:a16="http://schemas.microsoft.com/office/drawing/2014/main" id="{ECDC3B01-B64A-BCDD-9F92-137AE1075A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32790"/>
              <a:ext cx="1422488" cy="182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Performance</a:t>
              </a:r>
              <a:endPara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7" name="직선 연결선 148">
              <a:extLst>
                <a:ext uri="{FF2B5EF4-FFF2-40B4-BE49-F238E27FC236}">
                  <a16:creationId xmlns:a16="http://schemas.microsoft.com/office/drawing/2014/main" id="{ADC03259-0DAB-E8AE-E611-FA27DD20A2D4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C3E1543C-17B7-61E5-121E-51FA32C8E529}"/>
              </a:ext>
            </a:extLst>
          </p:cNvPr>
          <p:cNvSpPr txBox="1"/>
          <p:nvPr/>
        </p:nvSpPr>
        <p:spPr>
          <a:xfrm>
            <a:off x="25876" y="947289"/>
            <a:ext cx="3657600" cy="28539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ko-KR" sz="1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Top 10 Targets</a:t>
            </a:r>
            <a:endParaRPr kumimoji="1" lang="ko-KR" altLang="en-US" sz="1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26F5DF29-C4A8-DB01-9E5C-1C7AF3D2A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36" y="76150"/>
            <a:ext cx="6024692" cy="404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09" tIns="47855" rIns="95709" bIns="47855">
            <a:spAutoFit/>
          </a:bodyPr>
          <a:lstStyle>
            <a:lvl1pPr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[Field Service] 3-Day RTAT Market Overview Rural Markets</a:t>
            </a:r>
            <a:endParaRPr kumimoji="1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2" name="Line 9">
            <a:extLst>
              <a:ext uri="{FF2B5EF4-FFF2-40B4-BE49-F238E27FC236}">
                <a16:creationId xmlns:a16="http://schemas.microsoft.com/office/drawing/2014/main" id="{E787C4B7-6F5B-DE3A-366C-26BE4B36EA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" y="548680"/>
            <a:ext cx="12192000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23" name="Action Button: Home 4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E88B67C-5234-F289-6A24-3D2D704B9B05}"/>
              </a:ext>
            </a:extLst>
          </p:cNvPr>
          <p:cNvSpPr/>
          <p:nvPr/>
        </p:nvSpPr>
        <p:spPr>
          <a:xfrm>
            <a:off x="11639377" y="217917"/>
            <a:ext cx="261389" cy="261847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34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0719E8-71F0-65D7-CF9D-2AC629038B10}"/>
              </a:ext>
            </a:extLst>
          </p:cNvPr>
          <p:cNvSpPr txBox="1"/>
          <p:nvPr/>
        </p:nvSpPr>
        <p:spPr>
          <a:xfrm>
            <a:off x="3481143" y="3583842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C66D15-1F10-5AF3-C617-63698B245A74}"/>
              </a:ext>
            </a:extLst>
          </p:cNvPr>
          <p:cNvSpPr txBox="1"/>
          <p:nvPr/>
        </p:nvSpPr>
        <p:spPr>
          <a:xfrm>
            <a:off x="3647529" y="1462679"/>
            <a:ext cx="3745896" cy="450444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3616C0-739B-7C6B-04B7-95B12565C40A}"/>
              </a:ext>
            </a:extLst>
          </p:cNvPr>
          <p:cNvSpPr txBox="1"/>
          <p:nvPr/>
        </p:nvSpPr>
        <p:spPr>
          <a:xfrm>
            <a:off x="3481144" y="1233628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Review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38F64-FE38-2177-92E4-2AE42A005118}"/>
              </a:ext>
            </a:extLst>
          </p:cNvPr>
          <p:cNvSpPr txBox="1"/>
          <p:nvPr/>
        </p:nvSpPr>
        <p:spPr>
          <a:xfrm>
            <a:off x="3644280" y="3821745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6EAD5B-740A-6615-7901-DEEE16FF018E}"/>
              </a:ext>
            </a:extLst>
          </p:cNvPr>
          <p:cNvSpPr txBox="1"/>
          <p:nvPr/>
        </p:nvSpPr>
        <p:spPr>
          <a:xfrm>
            <a:off x="3683652" y="4254276"/>
            <a:ext cx="2944399" cy="16158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08E6D-0255-7067-E726-1EF5577FA5CA}"/>
              </a:ext>
            </a:extLst>
          </p:cNvPr>
          <p:cNvSpPr txBox="1"/>
          <p:nvPr/>
        </p:nvSpPr>
        <p:spPr>
          <a:xfrm>
            <a:off x="8044212" y="1438704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41530F-5CB8-B7D0-B11C-6F3F28E12DC5}"/>
              </a:ext>
            </a:extLst>
          </p:cNvPr>
          <p:cNvSpPr txBox="1"/>
          <p:nvPr/>
        </p:nvSpPr>
        <p:spPr>
          <a:xfrm>
            <a:off x="8029496" y="3861785"/>
            <a:ext cx="3745896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ASDF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AC9702-6CA0-3D73-BFC9-E1840134229C}"/>
              </a:ext>
            </a:extLst>
          </p:cNvPr>
          <p:cNvSpPr txBox="1"/>
          <p:nvPr/>
        </p:nvSpPr>
        <p:spPr>
          <a:xfrm>
            <a:off x="7763294" y="3584584"/>
            <a:ext cx="3745897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Pending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4B8B43-449C-2E93-2F08-DF4D71A51FF3}"/>
              </a:ext>
            </a:extLst>
          </p:cNvPr>
          <p:cNvSpPr txBox="1"/>
          <p:nvPr/>
        </p:nvSpPr>
        <p:spPr>
          <a:xfrm>
            <a:off x="7763294" y="1183340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RTAT Strategy</a:t>
            </a:r>
            <a:endParaRPr kumimoji="1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7324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661CCB-2A79-8E8B-5C11-471F9EE72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46">
            <a:extLst>
              <a:ext uri="{FF2B5EF4-FFF2-40B4-BE49-F238E27FC236}">
                <a16:creationId xmlns:a16="http://schemas.microsoft.com/office/drawing/2014/main" id="{1AD5FE48-6493-B874-B025-25E5CE30988B}"/>
              </a:ext>
            </a:extLst>
          </p:cNvPr>
          <p:cNvGrpSpPr/>
          <p:nvPr/>
        </p:nvGrpSpPr>
        <p:grpSpPr>
          <a:xfrm>
            <a:off x="3512983" y="629300"/>
            <a:ext cx="2225536" cy="239077"/>
            <a:chOff x="232514" y="275033"/>
            <a:chExt cx="1857712" cy="202354"/>
          </a:xfrm>
        </p:grpSpPr>
        <p:sp>
          <p:nvSpPr>
            <p:cNvPr id="47" name="Text Box 41">
              <a:extLst>
                <a:ext uri="{FF2B5EF4-FFF2-40B4-BE49-F238E27FC236}">
                  <a16:creationId xmlns:a16="http://schemas.microsoft.com/office/drawing/2014/main" id="{B39C6909-75DB-D109-33D2-346BAA2FEE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75033"/>
              <a:ext cx="1422488" cy="1823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/>
                  <a:ea typeface="LG스마트체 Regular"/>
                  <a:cs typeface="+mn-cs"/>
                </a:rPr>
                <a:t>SKS Review</a:t>
              </a:r>
              <a:endParaRPr kumimoji="1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1" name="직선 연결선 148">
              <a:extLst>
                <a:ext uri="{FF2B5EF4-FFF2-40B4-BE49-F238E27FC236}">
                  <a16:creationId xmlns:a16="http://schemas.microsoft.com/office/drawing/2014/main" id="{F7F7727D-EB86-5642-7396-6D4AF1184D62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그룹 146">
            <a:extLst>
              <a:ext uri="{FF2B5EF4-FFF2-40B4-BE49-F238E27FC236}">
                <a16:creationId xmlns:a16="http://schemas.microsoft.com/office/drawing/2014/main" id="{BC487C81-7150-5D58-8989-29047A9025CF}"/>
              </a:ext>
            </a:extLst>
          </p:cNvPr>
          <p:cNvGrpSpPr/>
          <p:nvPr/>
        </p:nvGrpSpPr>
        <p:grpSpPr>
          <a:xfrm>
            <a:off x="7300325" y="629301"/>
            <a:ext cx="4548192" cy="240954"/>
            <a:chOff x="232514" y="236433"/>
            <a:chExt cx="1857712" cy="240954"/>
          </a:xfrm>
        </p:grpSpPr>
        <p:sp>
          <p:nvSpPr>
            <p:cNvPr id="53" name="Text Box 41">
              <a:extLst>
                <a:ext uri="{FF2B5EF4-FFF2-40B4-BE49-F238E27FC236}">
                  <a16:creationId xmlns:a16="http://schemas.microsoft.com/office/drawing/2014/main" id="{2B6FFB9B-6FD2-50E7-1364-6BA4D1D446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0136" y="236433"/>
              <a:ext cx="26250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/>
                  <a:ea typeface="LG스마트체 Regular"/>
                  <a:cs typeface="+mn-cs"/>
                </a:rPr>
                <a:t>Actions</a:t>
              </a:r>
              <a:endPara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4" name="직선 연결선 148">
              <a:extLst>
                <a:ext uri="{FF2B5EF4-FFF2-40B4-BE49-F238E27FC236}">
                  <a16:creationId xmlns:a16="http://schemas.microsoft.com/office/drawing/2014/main" id="{559B4B31-3FBC-7274-F1ED-FE8C00DE078E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5" name="그룹 146">
            <a:extLst>
              <a:ext uri="{FF2B5EF4-FFF2-40B4-BE49-F238E27FC236}">
                <a16:creationId xmlns:a16="http://schemas.microsoft.com/office/drawing/2014/main" id="{F8AD6F82-0BAE-BD27-EC0D-08130AFF0B27}"/>
              </a:ext>
            </a:extLst>
          </p:cNvPr>
          <p:cNvGrpSpPr/>
          <p:nvPr/>
        </p:nvGrpSpPr>
        <p:grpSpPr>
          <a:xfrm>
            <a:off x="195594" y="638354"/>
            <a:ext cx="2816151" cy="232440"/>
            <a:chOff x="232514" y="232790"/>
            <a:chExt cx="1857712" cy="244597"/>
          </a:xfrm>
        </p:grpSpPr>
        <p:sp>
          <p:nvSpPr>
            <p:cNvPr id="56" name="Text Box 41">
              <a:extLst>
                <a:ext uri="{FF2B5EF4-FFF2-40B4-BE49-F238E27FC236}">
                  <a16:creationId xmlns:a16="http://schemas.microsoft.com/office/drawing/2014/main" id="{8921F12F-2CDE-9E09-344F-79A85E2BE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84" y="232790"/>
              <a:ext cx="1422488" cy="182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1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ova" panose="020B0504020202020204" pitchFamily="34" charset="0"/>
                  <a:ea typeface="LG스마트체 Regular" panose="020B0600000101010101" pitchFamily="50" charset="-127"/>
                  <a:cs typeface="+mn-cs"/>
                </a:rPr>
                <a:t>Performance</a:t>
              </a:r>
              <a:endParaRPr kumimoji="1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cxnSp>
          <p:nvCxnSpPr>
            <p:cNvPr id="57" name="직선 연결선 148">
              <a:extLst>
                <a:ext uri="{FF2B5EF4-FFF2-40B4-BE49-F238E27FC236}">
                  <a16:creationId xmlns:a16="http://schemas.microsoft.com/office/drawing/2014/main" id="{46F15C6A-DF3A-DBA9-8B04-0EB101AA90C4}"/>
                </a:ext>
              </a:extLst>
            </p:cNvPr>
            <p:cNvCxnSpPr/>
            <p:nvPr/>
          </p:nvCxnSpPr>
          <p:spPr bwMode="auto">
            <a:xfrm>
              <a:off x="232514" y="477387"/>
              <a:ext cx="1857712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2D72B02A-0CB9-6103-1E99-193F21403ED7}"/>
              </a:ext>
            </a:extLst>
          </p:cNvPr>
          <p:cNvSpPr txBox="1"/>
          <p:nvPr/>
        </p:nvSpPr>
        <p:spPr>
          <a:xfrm>
            <a:off x="3558066" y="2001754"/>
            <a:ext cx="3344384" cy="416781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Validate part-arrival timing and confirm if shipping delays were affecting RTAT</a:t>
            </a:r>
            <a:endParaRPr kumimoji="1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AF8B9F-1FCA-6B11-9FA0-6D6806485E32}"/>
              </a:ext>
            </a:extLst>
          </p:cNvPr>
          <p:cNvSpPr txBox="1"/>
          <p:nvPr/>
        </p:nvSpPr>
        <p:spPr>
          <a:xfrm>
            <a:off x="3558066" y="1235942"/>
            <a:ext cx="3745896" cy="416781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Reduce SKS RTAT toward a 4-day target</a:t>
            </a:r>
            <a:b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</a:br>
            <a:endParaRPr kumimoji="1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7AAD9E-F402-4D27-9540-B971856C5356}"/>
              </a:ext>
            </a:extLst>
          </p:cNvPr>
          <p:cNvSpPr txBox="1"/>
          <p:nvPr/>
        </p:nvSpPr>
        <p:spPr>
          <a:xfrm>
            <a:off x="3481144" y="868904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SKS Items Requested</a:t>
            </a:r>
            <a:endParaRPr kumimoji="1" lang="en-US" altLang="ko-K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00FFF11-4910-F3AA-3CA6-DDF15E8B1B0C}"/>
              </a:ext>
            </a:extLst>
          </p:cNvPr>
          <p:cNvSpPr txBox="1"/>
          <p:nvPr/>
        </p:nvSpPr>
        <p:spPr>
          <a:xfrm>
            <a:off x="7620448" y="1700589"/>
            <a:ext cx="3204594" cy="16158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05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Dedicated SKS RTAT dropped from 4.9 to 4.3 days (July–Nov).</a:t>
            </a:r>
            <a:endParaRPr kumimoji="1" lang="en-US" sz="1400" b="0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FD50D5A-F4B9-86B5-78E4-275CA96EA793}"/>
              </a:ext>
            </a:extLst>
          </p:cNvPr>
          <p:cNvSpPr txBox="1"/>
          <p:nvPr/>
        </p:nvSpPr>
        <p:spPr>
          <a:xfrm>
            <a:off x="7344973" y="2772856"/>
            <a:ext cx="3745896" cy="416781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Completed market viability analysis for four priority regions and submitted an investment deck</a:t>
            </a:r>
            <a:endParaRPr kumimoji="1" lang="en-US" altLang="ko-KR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442967-E850-616D-1C3C-1A1F2D2C953F}"/>
              </a:ext>
            </a:extLst>
          </p:cNvPr>
          <p:cNvSpPr txBox="1"/>
          <p:nvPr/>
        </p:nvSpPr>
        <p:spPr>
          <a:xfrm>
            <a:off x="7344973" y="1235942"/>
            <a:ext cx="3551627" cy="416781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Implemented the 2-jobs-per-day scheduling model across all SKS techs.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B7F1DA8-4BDD-5010-7143-9DE029AA49BA}"/>
              </a:ext>
            </a:extLst>
          </p:cNvPr>
          <p:cNvSpPr txBox="1"/>
          <p:nvPr/>
        </p:nvSpPr>
        <p:spPr>
          <a:xfrm>
            <a:off x="7269410" y="868904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SKS Actions Taken</a:t>
            </a:r>
            <a:endParaRPr kumimoji="1" lang="ko-KR" altLang="en-US" sz="13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EA62948-41AF-4EED-5845-2A220B8FFA91}"/>
              </a:ext>
            </a:extLst>
          </p:cNvPr>
          <p:cNvSpPr txBox="1"/>
          <p:nvPr/>
        </p:nvSpPr>
        <p:spPr>
          <a:xfrm>
            <a:off x="25876" y="877957"/>
            <a:ext cx="3745896" cy="28539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en-US" altLang="ko-KR" sz="1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SKS</a:t>
            </a:r>
            <a:endParaRPr kumimoji="1" lang="ko-KR" altLang="en-US" sz="1600" b="1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D4710AF4-8970-2A58-82A0-37BD0D456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36" y="76150"/>
            <a:ext cx="3288686" cy="404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709" tIns="47855" rIns="95709" bIns="47855">
            <a:spAutoFit/>
          </a:bodyPr>
          <a:lstStyle>
            <a:lvl1pPr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[Field Service] SKS Operations</a:t>
            </a:r>
            <a:endParaRPr kumimoji="1" lang="ko-KR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3B3BD2-34EA-4CFF-E11F-88165ECB7739}"/>
              </a:ext>
            </a:extLst>
          </p:cNvPr>
          <p:cNvSpPr txBox="1"/>
          <p:nvPr/>
        </p:nvSpPr>
        <p:spPr>
          <a:xfrm>
            <a:off x="3558066" y="2772856"/>
            <a:ext cx="3745896" cy="416781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5000000000000000000" pitchFamily="2" charset="2"/>
              <a:buChar char="•"/>
              <a:tabLst/>
              <a:defRPr/>
            </a:pPr>
            <a: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Expand capacity (headcount) in critical regions</a:t>
            </a:r>
            <a:b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</a:br>
            <a:endParaRPr kumimoji="1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FC5DEE-4771-15BA-9E69-DCA3D0F5F700}"/>
              </a:ext>
            </a:extLst>
          </p:cNvPr>
          <p:cNvSpPr txBox="1"/>
          <p:nvPr/>
        </p:nvSpPr>
        <p:spPr>
          <a:xfrm>
            <a:off x="3558066" y="3980431"/>
            <a:ext cx="3426934" cy="636841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Provide channel-separated NPS and clarify how blended NPS is calculated.</a:t>
            </a:r>
            <a:b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</a:br>
            <a:endParaRPr kumimoji="1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221E29-C75E-A26F-9F3A-4668E9827F08}"/>
              </a:ext>
            </a:extLst>
          </p:cNvPr>
          <p:cNvSpPr txBox="1"/>
          <p:nvPr/>
        </p:nvSpPr>
        <p:spPr>
          <a:xfrm>
            <a:off x="7620448" y="4219063"/>
            <a:ext cx="3204594" cy="16158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05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August 88.7, September 80.4, October 85.7, November 82.7</a:t>
            </a:r>
            <a:endParaRPr kumimoji="1" lang="en-US" sz="1400" b="0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F5859B-56E0-A568-832A-9E98E330D113}"/>
              </a:ext>
            </a:extLst>
          </p:cNvPr>
          <p:cNvSpPr txBox="1"/>
          <p:nvPr/>
        </p:nvSpPr>
        <p:spPr>
          <a:xfrm>
            <a:off x="7620448" y="3295622"/>
            <a:ext cx="3745896" cy="36471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05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Threshold 20-25 jobs per month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</a:t>
            </a:r>
            <a: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Oregon/Washington, North Florida, Nevada/Utah, Pennsylvania/Virginia)</a:t>
            </a:r>
            <a:endParaRPr kumimoji="1" lang="en-US" sz="1400" b="0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CAA053-B804-2626-80E8-525D9D352520}"/>
              </a:ext>
            </a:extLst>
          </p:cNvPr>
          <p:cNvSpPr txBox="1"/>
          <p:nvPr/>
        </p:nvSpPr>
        <p:spPr>
          <a:xfrm>
            <a:off x="7344973" y="2001754"/>
            <a:ext cx="3745896" cy="196721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•Analyzed Part Delivery Lead Time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6567EC-FBCE-D00C-BE6D-4571A0863D37}"/>
              </a:ext>
            </a:extLst>
          </p:cNvPr>
          <p:cNvSpPr txBox="1"/>
          <p:nvPr/>
        </p:nvSpPr>
        <p:spPr>
          <a:xfrm>
            <a:off x="7620447" y="2240153"/>
            <a:ext cx="3470421" cy="32316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050" b="0" i="0" u="none" strike="noStrike" kern="1200" cap="none" spc="0" normalizeH="0" baseline="0" noProof="0">
                <a:ln>
                  <a:noFill/>
                </a:ln>
                <a:solidFill>
                  <a:srgbClr val="BD4848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Average arrival is 1.9 days; removing Friday/Saturday orders reduces to 1.5 days</a:t>
            </a:r>
            <a:r>
              <a:rPr kumimoji="1" lang="en-US" sz="105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.</a:t>
            </a:r>
            <a:r>
              <a:rPr kumimoji="1" lang="en-US" sz="1050" b="0" i="0" u="none" strike="noStrike" kern="1200" cap="none" spc="0" normalizeH="0" baseline="0" noProof="0">
                <a:ln>
                  <a:noFill/>
                </a:ln>
                <a:solidFill>
                  <a:srgbClr val="BD4848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Order Monday Fulfill Thursday.</a:t>
            </a:r>
            <a:endParaRPr kumimoji="1" lang="en-US" sz="1400" b="0" i="0" u="none" strike="noStrike" kern="1200" cap="none" spc="0" normalizeH="0" baseline="0" noProof="0">
              <a:ln>
                <a:noFill/>
              </a:ln>
              <a:solidFill>
                <a:srgbClr val="BD4848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DD8026-28A3-4E4A-23E2-E93A0D514CF6}"/>
              </a:ext>
            </a:extLst>
          </p:cNvPr>
          <p:cNvSpPr txBox="1"/>
          <p:nvPr/>
        </p:nvSpPr>
        <p:spPr>
          <a:xfrm>
            <a:off x="7351430" y="3980431"/>
            <a:ext cx="3745896" cy="196721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Overall NPS: </a:t>
            </a:r>
            <a:endParaRPr kumimoji="1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1C0C0AEF-5193-B3E6-4ADF-3DA4DBC0D9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" y="548680"/>
            <a:ext cx="12192000" cy="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6020202030204" pitchFamily="34" charset="0"/>
              <a:ea typeface="LG Smart_H Regular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10" name="Action Button: Home 4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F798D2B-52CE-E4CC-55F3-F3DFA1FEDC1A}"/>
              </a:ext>
            </a:extLst>
          </p:cNvPr>
          <p:cNvSpPr/>
          <p:nvPr/>
        </p:nvSpPr>
        <p:spPr>
          <a:xfrm>
            <a:off x="11639377" y="217917"/>
            <a:ext cx="261389" cy="261847"/>
          </a:xfrm>
          <a:prstGeom prst="actionButtonHom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34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67015D-55AB-784D-99F7-88078D6C307C}"/>
              </a:ext>
            </a:extLst>
          </p:cNvPr>
          <p:cNvSpPr txBox="1"/>
          <p:nvPr/>
        </p:nvSpPr>
        <p:spPr>
          <a:xfrm>
            <a:off x="7344973" y="4641555"/>
            <a:ext cx="3745896" cy="23185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marR="0" lvl="0" indent="-2857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1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SKS Training</a:t>
            </a:r>
            <a:endParaRPr kumimoji="1" lang="ko-KR" altLang="en-US" sz="13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A45944-898E-26E9-52F4-7FB27B2EA5EB}"/>
              </a:ext>
            </a:extLst>
          </p:cNvPr>
          <p:cNvSpPr txBox="1"/>
          <p:nvPr/>
        </p:nvSpPr>
        <p:spPr>
          <a:xfrm>
            <a:off x="7442107" y="4988684"/>
            <a:ext cx="3551627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Training is set for all SKS dedicated on March 16</a:t>
            </a:r>
            <a:r>
              <a:rPr kumimoji="1" lang="en-US" sz="11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th</a:t>
            </a:r>
            <a: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through 20</a:t>
            </a:r>
            <a:r>
              <a:rPr kumimoji="1" lang="en-US" sz="11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th</a:t>
            </a:r>
            <a: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808D7-06C0-D23D-C0A2-86B2FC800045}"/>
              </a:ext>
            </a:extLst>
          </p:cNvPr>
          <p:cNvSpPr txBox="1"/>
          <p:nvPr/>
        </p:nvSpPr>
        <p:spPr>
          <a:xfrm>
            <a:off x="7442107" y="5337816"/>
            <a:ext cx="4135720" cy="196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1450" marR="0" lvl="0" indent="-171450" algn="l" defTabSz="914400" rtl="0" eaLnBrk="1" fontAlgn="base" latinLnBrk="1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34" charset="0"/>
                <a:ea typeface="LG스마트체 Regular" panose="020B0600000101010101" pitchFamily="50" charset="-127"/>
                <a:cs typeface="+mn-cs"/>
              </a:rPr>
              <a:t>Current floating helpers exist in markets where we have dedicated SKS techs.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0C4316-29CE-8B7D-9C4E-F5955C693863}"/>
              </a:ext>
            </a:extLst>
          </p:cNvPr>
          <p:cNvSpPr txBox="1"/>
          <p:nvPr/>
        </p:nvSpPr>
        <p:spPr>
          <a:xfrm>
            <a:off x="7706301" y="5669828"/>
            <a:ext cx="3209418" cy="32316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05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Next round of hiring should be impactful to areas without coverage. (Chicago, Tampa Bay, Orlando, Philadelphia)</a:t>
            </a:r>
            <a:endParaRPr kumimoji="1" lang="en-US" sz="1400" b="0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CD698C-5CB7-53E6-A2F4-74641B2C4B00}"/>
              </a:ext>
            </a:extLst>
          </p:cNvPr>
          <p:cNvSpPr txBox="1"/>
          <p:nvPr/>
        </p:nvSpPr>
        <p:spPr>
          <a:xfrm>
            <a:off x="7689749" y="6083835"/>
            <a:ext cx="3498253" cy="16158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solidFill>
                  <a:srgbClr val="008000"/>
                </a:solidFill>
                <a:latin typeface="Arial Narrow" pitchFamily="34" charset="0"/>
                <a:ea typeface="LG스마트체 Regular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050" b="0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Partnering with CIC to create a process to book to the Floating program.</a:t>
            </a:r>
            <a:endParaRPr kumimoji="1" lang="en-US" sz="1400" b="0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 Narrow" pitchFamily="34" charset="0"/>
              <a:ea typeface="LG스마트체 Regular" panose="020B0600000101010101" pitchFamily="50" charset="-127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D06B635-4583-9FAB-CA18-E31E1296A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20" y="1108391"/>
            <a:ext cx="3162384" cy="401036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52EC8D1-F1E8-97E6-9903-6B6B27D79E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920" y="5185213"/>
            <a:ext cx="4970296" cy="159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021044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99"/>
        </a:solidFill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12542" tIns="56271" rIns="112542" bIns="56271" numCol="1" rtlCol="0" anchor="t" anchorCtr="0" compatLnSpc="1">
        <a:prstTxWarp prst="textNoShape">
          <a:avLst/>
        </a:prstTxWarp>
      </a:bodyPr>
      <a:lstStyle>
        <a:defPPr defTabSz="1125444">
          <a:defRPr sz="1477" dirty="0" smtClean="0">
            <a:solidFill>
              <a:srgbClr val="C00000"/>
            </a:solidFill>
            <a:latin typeface="Arial Narrow" panose="020B0606020202030204" pitchFamily="34" charset="0"/>
            <a:ea typeface="LG스마트체 Regular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lnDef>
  </a:objectDefaults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1353</Words>
  <Application>Microsoft Office PowerPoint</Application>
  <PresentationFormat>Widescreen</PresentationFormat>
  <Paragraphs>750</Paragraphs>
  <Slides>10</Slides>
  <Notes>10</Notes>
  <HiddenSlides>10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굴림</vt:lpstr>
      <vt:lpstr>Aptos</vt:lpstr>
      <vt:lpstr>Arial</vt:lpstr>
      <vt:lpstr>Arial Narrow</vt:lpstr>
      <vt:lpstr>Arial Nova</vt:lpstr>
      <vt:lpstr>Wingdings</vt:lpstr>
      <vt:lpstr>1_디자인 사용자 지정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Emmons/Team Leader/LGEAI Region Operation</dc:creator>
  <cp:lastModifiedBy>Matthew Emmons/Team Leader/LGEAI Region Operation</cp:lastModifiedBy>
  <cp:revision>2</cp:revision>
  <dcterms:created xsi:type="dcterms:W3CDTF">2026-01-05T22:46:19Z</dcterms:created>
  <dcterms:modified xsi:type="dcterms:W3CDTF">2026-04-06T15:52:50Z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2026-01-05T22:47:45Z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4e14925b-d68b-4903-b525-e647dc9f269d</vt:lpwstr>
  </property>
  <property fmtid="{D5CDD505-2E9C-101B-9397-08002B2CF9AE}" pid="8" name="MSIP_Label_cc6ed9fc-fefc-4a0c-a6d6-10cf236c0d4f_ContentBits">
    <vt:lpwstr>1</vt:lpwstr>
  </property>
  <property fmtid="{D5CDD505-2E9C-101B-9397-08002B2CF9AE}" pid="9" name="MSIP_Label_cc6ed9fc-fefc-4a0c-a6d6-10cf236c0d4f_Tag">
    <vt:lpwstr>10, 3, 0, 1</vt:lpwstr>
  </property>
  <property fmtid="{D5CDD505-2E9C-101B-9397-08002B2CF9AE}" pid="10" name="ClassificationContentMarkingHeaderLocations">
    <vt:lpwstr>1_디자인 사용자 지정:3</vt:lpwstr>
  </property>
  <property fmtid="{D5CDD505-2E9C-101B-9397-08002B2CF9AE}" pid="11" name="ClassificationContentMarkingHeaderText">
    <vt:lpwstr>LGE Internal Use Only</vt:lpwstr>
  </property>
</Properties>
</file>