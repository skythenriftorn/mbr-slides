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11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0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GAP CALCULATION</a:t>
            </a:r>
          </a:p>
          <a:p>
            <a:r>
              <a:t>===============</a:t>
            </a:r>
          </a:p>
          <a:p>
            <a:endParaRPr/>
          </a:p>
          <a:p>
            <a:r>
              <a:t>WHAT IS IMPACT SCORE?</a:t>
            </a:r>
          </a:p>
          <a:p>
            <a:r>
              <a:t>The servicer's RTAT times their volume. It creates a score - the higher the number,</a:t>
            </a:r>
          </a:p>
          <a:p>
            <a:r>
              <a:t>the bigger the impact on the network.</a:t>
            </a:r>
          </a:p>
          <a:p>
            <a:endParaRPr/>
          </a:p>
          <a:p>
            <a:r>
              <a:t>  Example: Splice Technologies (IN)</a:t>
            </a:r>
          </a:p>
          <a:p>
            <a:r>
              <a:t>  187 jobs x 18.5 avg RTAT = 3,460 Impact Score</a:t>
            </a:r>
          </a:p>
          <a:p>
            <a:endParaRPr/>
          </a:p>
          <a:p>
            <a:r>
              <a:t>WHAT IS TARGET SCORE?</a:t>
            </a:r>
          </a:p>
          <a:p>
            <a:r>
              <a:t>What their RTAT would be if it was at 10 days, times the volume.</a:t>
            </a:r>
          </a:p>
          <a:p>
            <a:r>
              <a:t>Essentially what the Impact Score should look like at goal.</a:t>
            </a:r>
          </a:p>
          <a:p>
            <a:endParaRPr/>
          </a:p>
          <a:p>
            <a:r>
              <a:t>  Example: Splice Technologies (IN)</a:t>
            </a:r>
          </a:p>
          <a:p>
            <a:r>
              <a:t>  187 jobs x 10 day target = 1,870 Target Score</a:t>
            </a:r>
          </a:p>
          <a:p>
            <a:endParaRPr/>
          </a:p>
          <a:p>
            <a:r>
              <a:t>WHAT IS GAP?</a:t>
            </a:r>
          </a:p>
          <a:p>
            <a:r>
              <a:t>Subtract one from the other. Whoever has the highest gap is having the</a:t>
            </a:r>
          </a:p>
          <a:p>
            <a:r>
              <a:t>biggest impact on the network.</a:t>
            </a:r>
          </a:p>
          <a:p>
            <a:endParaRPr/>
          </a:p>
          <a:p>
            <a:r>
              <a:t>  Example: Splice Technologies (IN)</a:t>
            </a:r>
          </a:p>
          <a:p>
            <a:r>
              <a:t>  3,460 Impact - 1,870 Target = +1,590 Gap</a:t>
            </a:r>
          </a:p>
          <a:p>
            <a:endParaRPr/>
          </a:p>
          <a:p>
            <a:r>
              <a:t>  Splice has the highest gap in Trey's territory, so they are #1 on his list.</a:t>
            </a:r>
          </a:p>
          <a:p>
            <a:endParaRPr/>
          </a:p>
          <a:p>
            <a:r>
              <a:t>WHY THIS MATTERS:</a:t>
            </a:r>
          </a:p>
          <a:p>
            <a:r>
              <a:t>Volume changes everything. A servicer averaging 30 days on 1 job is far less</a:t>
            </a:r>
          </a:p>
          <a:p>
            <a:r>
              <a:t>damaging than one averaging 18.5 days on 187 jobs. Gap captures both speed</a:t>
            </a:r>
          </a:p>
          <a:p>
            <a:r>
              <a:t>and scale so we focus where it moves the needle the most.</a:t>
            </a:r>
          </a:p>
          <a:p>
            <a:endParaRPr/>
          </a:p>
          <a:p>
            <a:r>
              <a:t>Top 10 per ASM = 20 servicers = ~31% of total urban volume (795 of 2,525 jobs).</a:t>
            </a:r>
          </a:p>
          <a:p>
            <a:endParaRPr/>
          </a:p>
          <a:p>
            <a:r>
              <a:t>Data: Sep 2025 - Feb 2026 (6 months) | RTAT Target: 10 days</a:t>
            </a:r>
          </a:p>
          <a:p>
            <a:r>
              <a:t>Service Power excluded (nationwide platform, not individually managed)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B5C02-28A3-EABD-806E-B588E3276EA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35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Hv6mcFVBeextpNEpoirLXjz0zxVogtELPqXkL0fhrN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73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</a:rPr>
              <a:t>Urban Market RTAT Reduction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731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Arial Narrow"/>
              </a:rPr>
              <a:t>6-Month Data: Sep 2025 - Feb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" y="438912"/>
            <a:ext cx="9656064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502920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 Narrow"/>
              </a:rPr>
              <a:t>Target </a:t>
            </a:r>
            <a:r>
              <a:rPr sz="1500" b="0">
                <a:solidFill>
                  <a:srgbClr val="000000"/>
                </a:solidFill>
                <a:latin typeface="Arial Narrow"/>
              </a:rPr>
              <a:t>Top 20 ASC by Gap to improve RTAT across </a:t>
            </a:r>
            <a:r>
              <a:rPr sz="1500" b="1">
                <a:solidFill>
                  <a:srgbClr val="000000"/>
                </a:solidFill>
                <a:latin typeface="Arial Narrow"/>
              </a:rPr>
              <a:t>~30%</a:t>
            </a:r>
            <a:r>
              <a:rPr sz="1500" b="0">
                <a:solidFill>
                  <a:srgbClr val="000000"/>
                </a:solidFill>
                <a:latin typeface="Arial Narrow"/>
              </a:rPr>
              <a:t> of urban volume (795 of 2,525 jobs).  10-Day RTAT Goal.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777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6600"/>
                </a:solidFill>
                <a:latin typeface="Arial Narrow"/>
              </a:rPr>
              <a:t>30-Day Goal : </a:t>
            </a:r>
            <a:r>
              <a:rPr sz="1100" b="0">
                <a:solidFill>
                  <a:srgbClr val="006600"/>
                </a:solidFill>
                <a:latin typeface="Arial Narrow"/>
              </a:rPr>
              <a:t>Reduce each Top 10 servicer to 10-Day RTAT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77724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06600"/>
                </a:solidFill>
                <a:latin typeface="Arial Narrow"/>
              </a:rPr>
              <a:t>Projected Network Impact : </a:t>
            </a:r>
            <a:r>
              <a:rPr sz="900" b="0">
                <a:solidFill>
                  <a:srgbClr val="006600"/>
                </a:solidFill>
                <a:latin typeface="Arial Narrow"/>
              </a:rPr>
              <a:t>13.09D current &gt;&gt; 10.53D projected  (-2.57 days, 19.6%)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" y="1051560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 Narrow"/>
              </a:rPr>
              <a:t>Action Plan : REPAIR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1307592"/>
            <a:ext cx="452628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" y="1371600"/>
            <a:ext cx="73152" cy="2331720"/>
          </a:xfrm>
          <a:prstGeom prst="rect">
            <a:avLst/>
          </a:prstGeom>
          <a:solidFill>
            <a:srgbClr val="99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" y="13990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R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ank Gap Servicers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Gap shows how far ASC performance is from target - tells us who impacts the network most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7647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E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stablish Expectations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Specific RTAT targets per ASC, monthly data-driven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1305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P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rocess Standardization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Consistent claim filing, share top-performer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496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A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mplify Visibility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Monitor pending dispatches, coverage gap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28620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I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ntegrate Teams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Cross-ASM collaboration on shared servicers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2278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</a:t>
            </a:r>
            <a:r>
              <a:rPr sz="1000" b="1">
                <a:solidFill>
                  <a:srgbClr val="000000"/>
                </a:solidFill>
                <a:latin typeface="Arial Narrow"/>
              </a:rPr>
              <a:t>R</a:t>
            </a:r>
            <a:r>
              <a:rPr sz="1000" b="0">
                <a:solidFill>
                  <a:srgbClr val="000000"/>
                </a:solidFill>
                <a:latin typeface="Arial Narrow"/>
              </a:rPr>
              <a:t>edirect Volume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Move jobs from non-improving ASCs to alternative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" y="3749039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</a:rPr>
              <a:t>Proven : Strategic Engagement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4005071"/>
            <a:ext cx="452628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" y="4069079"/>
            <a:ext cx="73152" cy="2606040"/>
          </a:xfrm>
          <a:prstGeom prst="rect">
            <a:avLst/>
          </a:prstGeom>
          <a:solidFill>
            <a:srgbClr val="99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409651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Splice Technologies (IN)  185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20.3 &gt; 9.5D  -53%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" y="444398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Consumers Mobile (FL)  33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17.5 &gt; 7.0D  -60%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" y="4791455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TV Specialty Shop (OR)  60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39.3 &gt; 23.0D  -41%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" y="5138927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J&amp;J Electronics (WI)  17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27.0 &gt; 16.0D  -41% 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548639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Mike's Electronics (KY)  13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35.2 &gt; 18.0D  -49%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" y="583387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Arial Narrow"/>
              </a:rPr>
              <a:t>- DOCS Electronics (KY)  17 jobs</a:t>
            </a:r>
          </a:p>
          <a:p>
            <a:pPr>
              <a:spcAft>
                <a:spcPts val="100"/>
              </a:spcAft>
            </a:pPr>
            <a:r>
              <a:rPr sz="800" b="0">
                <a:solidFill>
                  <a:srgbClr val="006600"/>
                </a:solidFill>
                <a:latin typeface="Arial Narrow"/>
              </a:rPr>
              <a:t>  17.0 &gt; 9.0D  -47%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318503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55AA"/>
                </a:solidFill>
                <a:latin typeface="Arial Narrow"/>
                <a:hlinkClick r:id="rId3"/>
              </a:rPr>
              <a:t>Live Dashboard : Google Sheets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943491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 Narrow"/>
              </a:rPr>
              <a:t>Dan Graham - Top 10 by Gap  |  297 Jobs (40.7%)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1289304"/>
            <a:ext cx="489204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198725"/>
              </p:ext>
            </p:extLst>
          </p:nvPr>
        </p:nvGraphicFramePr>
        <p:xfrm>
          <a:off x="4892040" y="1217811"/>
          <a:ext cx="4892038" cy="2663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2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Servicer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Vol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Gap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RTAT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Trend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Arial Narrow"/>
                        </a:rPr>
                        <a:t>TV Specialty Shop (OR)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39.3&gt;23.0 (-41%)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64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+1,267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29.8D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-16.3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C.J.J./TRISEC (NE)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23.0&gt;32.9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+540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24.2D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+9.9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Air Ways (UT)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21.4&gt;12.5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+193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19.2D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-8.9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J&amp;J Electronics (WI)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27.0&gt;16.0 (-41%)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+178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20.5D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-11.0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Atech Computer (OK)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10.4&gt;20.4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+162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15.6D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+10.0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DESIJA LLC (CO)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14.0&gt;10.5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+145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16.9D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-3.5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Palm &amp; Shields TV (CA)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15.1&gt;12.5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44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+123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12.8D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-2.6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Lin's TV (TX)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20.0&gt;16.8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+100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17.7D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-3.2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Sam's Electronics (HI)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+91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12.4D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+3.5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Telco Electronics (ID)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+60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15.0D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006600"/>
                          </a:solidFill>
                          <a:latin typeface="Arial Narrow"/>
                        </a:rPr>
                        <a:t>-0.6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965192" y="3924435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 Narrow"/>
              </a:rPr>
              <a:t>Trey (Robert Brown) - Top 10 by Gap  |  498 Jobs (27.7%)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4270248"/>
            <a:ext cx="4892040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431212"/>
              </p:ext>
            </p:extLst>
          </p:nvPr>
        </p:nvGraphicFramePr>
        <p:xfrm>
          <a:off x="4892040" y="4198755"/>
          <a:ext cx="4892038" cy="2645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2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1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Servicer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Vol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Gap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RTAT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Arial Narrow"/>
                        </a:rPr>
                        <a:t>Trend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Splice Technologies (IN)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20.3&gt;9.5 (-53%)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187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+1,590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18.5D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-10.8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EXICOMM/Tony's TV (PA)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FF0000"/>
                          </a:solidFill>
                          <a:latin typeface="Arial Narrow"/>
                        </a:rPr>
                        <a:t>19.3&gt;27.3 worsening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+343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20.1D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+8.0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Mike's Electronics (KY)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35.2&gt;18.0 (-49%)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+308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30.5D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-17.2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Lifetime Service Ctr (NY)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22.3&gt;17.2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+285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21.4D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-5.1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Leader TV &amp; Video (NY)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+277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25.4D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+6.7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Allen's TV Service (GA)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55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+242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14.4D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+1.2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Habersham Electronics (GA)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+170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16.8D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+3.5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AV Repair Specialists (TN)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86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+138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11.6D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+0.3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Consumers Mobile (FL)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006600"/>
                          </a:solidFill>
                          <a:latin typeface="Arial Narrow"/>
                        </a:rPr>
                        <a:t>17.5&gt;7.0 (-60%) below target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34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+136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14.0D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6600"/>
                          </a:solidFill>
                          <a:latin typeface="Arial Narrow"/>
                        </a:rPr>
                        <a:t>-10.5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Blackies Inc (MI)</a:t>
                      </a:r>
                    </a:p>
                  </a:txBody>
                  <a:tcPr marL="36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Arial Narrow"/>
                        </a:rPr>
                        <a:t>19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FF0000"/>
                          </a:solidFill>
                          <a:latin typeface="Arial Narrow"/>
                        </a:rPr>
                        <a:t>+131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</a:rPr>
                        <a:t>16.9D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0000"/>
                          </a:solidFill>
                          <a:latin typeface="Arial Narrow"/>
                        </a:rPr>
                        <a:t>+3.5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825</Words>
  <Application>Microsoft Office PowerPoint</Application>
  <PresentationFormat>A4 Paper (210x297 mm)</PresentationFormat>
  <Paragraphs>192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Narrow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Crafton/Part Leader/LGEAI Nationwide</cp:lastModifiedBy>
  <cp:revision>2</cp:revision>
  <dcterms:created xsi:type="dcterms:W3CDTF">2013-01-27T09:14:16Z</dcterms:created>
  <dcterms:modified xsi:type="dcterms:W3CDTF">2026-03-10T00:54:41Z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2026-03-10T00:54:41Z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ca0c26bf-1978-4259-bd71-d727497f5b5f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LGE Internal Use Only</vt:lpwstr>
  </property>
</Properties>
</file>